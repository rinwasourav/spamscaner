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5FA5"/>
          </a:solidFill>
          <a:ln>
            <a:solidFill>
              <a:srgbClr val="1E5F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457199"/>
            <a:ext cx="305560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FEF08A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🛡️ </a:t>
            </a:r>
            <a:r>
              <a:t>SIGNALTRUST / SPAMSCANNER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40" y="1645920"/>
            <a:ext cx="5577840" cy="2477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0"/>
              </a:spcBef>
              <a:defRPr b="1" sz="2600">
                <a:solidFill>
                  <a:srgbClr val="FFFFFF"/>
                </a:solidFill>
              </a:defRPr>
            </a:pPr>
            <a:r>
              <a:t>AN INTEGRATED AI &amp; GRAPH-BASED SMART SPAM CALL DETECTION &amp; REPLAY SYSTEM</a:t>
            </a:r>
          </a:p>
          <a:p>
            <a:pPr>
              <a:defRPr b="1" sz="1400">
                <a:solidFill>
                  <a:srgbClr val="FEF08A"/>
                </a:solidFill>
              </a:defRPr>
            </a:pPr>
            <a:r>
              <a:t>TEAM NAME: SPAMSCANNER CORE</a:t>
            </a:r>
            <a:br/>
            <a:r>
              <a:t>TEAM ID: 38</a:t>
            </a:r>
            <a:br/>
            <a:r>
              <a:t>TEAM MEMBERS:</a:t>
            </a:r>
            <a:br/>
            <a:r>
              <a:t>SOURAV RINWA &amp; ARVIND SHARMA</a:t>
            </a:r>
          </a:p>
        </p:txBody>
      </p:sp>
      <p:pic>
        <p:nvPicPr>
          <p:cNvPr id="9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75119" y="914400"/>
            <a:ext cx="5029201" cy="5029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2" name="Rectangle 2"/>
          <p:cNvGrpSpPr/>
          <p:nvPr/>
        </p:nvGrpSpPr>
        <p:grpSpPr>
          <a:xfrm>
            <a:off x="0" y="-1"/>
            <a:ext cx="4114800" cy="731522"/>
            <a:chOff x="0" y="0"/>
            <a:chExt cx="4114800" cy="731520"/>
          </a:xfrm>
        </p:grpSpPr>
        <p:sp>
          <p:nvSpPr>
            <p:cNvPr id="100" name="Rectangle"/>
            <p:cNvSpPr/>
            <p:nvPr/>
          </p:nvSpPr>
          <p:spPr>
            <a:xfrm>
              <a:off x="0" y="-1"/>
              <a:ext cx="4114800" cy="731522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1" name="PROBLEM STATEMENT"/>
            <p:cNvSpPr txBox="1"/>
            <p:nvPr/>
          </p:nvSpPr>
          <p:spPr>
            <a:xfrm>
              <a:off x="233362" y="241389"/>
              <a:ext cx="3830956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PROBLEM STATEMENT</a:t>
              </a:r>
            </a:p>
          </p:txBody>
        </p:sp>
      </p:grpSp>
      <p:sp>
        <p:nvSpPr>
          <p:cNvPr id="103" name="TextBox 3"/>
          <p:cNvSpPr txBox="1"/>
          <p:nvPr/>
        </p:nvSpPr>
        <p:spPr>
          <a:xfrm>
            <a:off x="9646919" y="182879"/>
            <a:ext cx="111043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06" name="Rounded Rectangle 4"/>
          <p:cNvGrpSpPr/>
          <p:nvPr/>
        </p:nvGrpSpPr>
        <p:grpSpPr>
          <a:xfrm>
            <a:off x="365759" y="914400"/>
            <a:ext cx="5029201" cy="4846321"/>
            <a:chOff x="0" y="0"/>
            <a:chExt cx="5029200" cy="4846320"/>
          </a:xfrm>
        </p:grpSpPr>
        <p:sp>
          <p:nvSpPr>
            <p:cNvPr id="104" name="Rounded Rectangle"/>
            <p:cNvSpPr/>
            <p:nvPr/>
          </p:nvSpPr>
          <p:spPr>
            <a:xfrm>
              <a:off x="0" y="0"/>
              <a:ext cx="5029200" cy="484632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05" name="🚨 THE PROBLEM…"/>
            <p:cNvSpPr txBox="1"/>
            <p:nvPr/>
          </p:nvSpPr>
          <p:spPr>
            <a:xfrm>
              <a:off x="378500" y="1381452"/>
              <a:ext cx="4363640" cy="22205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spcBef>
                  <a:spcPts val="1400"/>
                </a:spcBef>
                <a:defRPr b="1" sz="2800">
                  <a:solidFill>
                    <a:srgbClr val="BE1818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🚨 </a:t>
              </a:r>
              <a:r>
                <a:t>THE PROBLEM</a:t>
              </a:r>
            </a:p>
            <a:p>
              <a:pPr algn="ctr">
                <a:spcBef>
                  <a:spcPts val="1200"/>
                </a:spcBef>
                <a:defRPr sz="1700">
                  <a:solidFill>
                    <a:srgbClr val="64748B"/>
                  </a:solidFill>
                </a:defRPr>
              </a:pPr>
              <a:r>
                <a:t>In telecommunications, determining caller authenticity is extremely difficult.</a:t>
              </a:r>
            </a:p>
            <a:p>
              <a:pPr algn="ctr">
                <a:defRPr sz="1600">
                  <a:solidFill>
                    <a:srgbClr val="1E293B"/>
                  </a:solidFill>
                </a:defRPr>
              </a:pPr>
              <a:r>
                <a:t>Six compounding risk factors — shown alongside — leave carriers, apps, and users exposed at every stage of a call.</a:t>
              </a:r>
            </a:p>
          </p:txBody>
        </p:sp>
      </p:grpSp>
      <p:grpSp>
        <p:nvGrpSpPr>
          <p:cNvPr id="109" name="Rounded Rectangle 5"/>
          <p:cNvGrpSpPr/>
          <p:nvPr/>
        </p:nvGrpSpPr>
        <p:grpSpPr>
          <a:xfrm>
            <a:off x="365759" y="5852159"/>
            <a:ext cx="11430001" cy="731521"/>
            <a:chOff x="0" y="0"/>
            <a:chExt cx="11430000" cy="731519"/>
          </a:xfrm>
        </p:grpSpPr>
        <p:sp>
          <p:nvSpPr>
            <p:cNvPr id="107" name="Rounded Rectangle"/>
            <p:cNvSpPr/>
            <p:nvPr/>
          </p:nvSpPr>
          <p:spPr>
            <a:xfrm>
              <a:off x="0" y="0"/>
              <a:ext cx="11430000" cy="731520"/>
            </a:xfrm>
            <a:prstGeom prst="roundRect">
              <a:avLst>
                <a:gd name="adj" fmla="val 16667"/>
              </a:avLst>
            </a:prstGeom>
            <a:solidFill>
              <a:srgbClr val="FEE2E2"/>
            </a:solidFill>
            <a:ln w="9525" cap="flat">
              <a:solidFill>
                <a:srgbClr val="BE181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300">
                  <a:solidFill>
                    <a:srgbClr val="BE1818"/>
                  </a:solidFill>
                </a:defRPr>
              </a:pPr>
            </a:p>
          </p:txBody>
        </p:sp>
        <p:sp>
          <p:nvSpPr>
            <p:cNvPr id="108" name="💡 IMPACT: Wrong decisions, user financial fraud, loss of trust in phone calls, and missed emergency communications."/>
            <p:cNvSpPr txBox="1"/>
            <p:nvPr/>
          </p:nvSpPr>
          <p:spPr>
            <a:xfrm>
              <a:off x="86192" y="186690"/>
              <a:ext cx="11257616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300">
                  <a:solidFill>
                    <a:srgbClr val="BE1818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💡 </a:t>
              </a:r>
              <a:r>
                <a:t>IMPACT: Wrong decisions, user financial fraud, loss of trust in phone calls, and missed emergency communications.</a:t>
              </a:r>
            </a:p>
          </p:txBody>
        </p:sp>
      </p:grpSp>
      <p:grpSp>
        <p:nvGrpSpPr>
          <p:cNvPr id="112" name="Rounded Rectangle 6"/>
          <p:cNvGrpSpPr/>
          <p:nvPr/>
        </p:nvGrpSpPr>
        <p:grpSpPr>
          <a:xfrm>
            <a:off x="5577840" y="914400"/>
            <a:ext cx="2926081" cy="1371600"/>
            <a:chOff x="0" y="0"/>
            <a:chExt cx="2926079" cy="1371600"/>
          </a:xfrm>
        </p:grpSpPr>
        <p:sp>
          <p:nvSpPr>
            <p:cNvPr id="110" name="Rounded Rectangle"/>
            <p:cNvSpPr/>
            <p:nvPr/>
          </p:nvSpPr>
          <p:spPr>
            <a:xfrm>
              <a:off x="0" y="0"/>
              <a:ext cx="2926080" cy="13716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11" name="Fast Robocalls…"/>
            <p:cNvSpPr txBox="1"/>
            <p:nvPr/>
          </p:nvSpPr>
          <p:spPr>
            <a:xfrm>
              <a:off x="117438" y="500293"/>
              <a:ext cx="2691204" cy="599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Fast Robocalls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High-volume spam bursts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Milliseconds-fast, overwhelms carriers</a:t>
              </a:r>
            </a:p>
          </p:txBody>
        </p:sp>
      </p:grpSp>
      <p:grpSp>
        <p:nvGrpSpPr>
          <p:cNvPr id="115" name="Rounded Rectangle 7"/>
          <p:cNvGrpSpPr/>
          <p:nvPr/>
        </p:nvGrpSpPr>
        <p:grpSpPr>
          <a:xfrm>
            <a:off x="8686800" y="914400"/>
            <a:ext cx="2926080" cy="1371600"/>
            <a:chOff x="0" y="0"/>
            <a:chExt cx="2926079" cy="1371600"/>
          </a:xfrm>
        </p:grpSpPr>
        <p:sp>
          <p:nvSpPr>
            <p:cNvPr id="113" name="Rounded Rectangle"/>
            <p:cNvSpPr/>
            <p:nvPr/>
          </p:nvSpPr>
          <p:spPr>
            <a:xfrm>
              <a:off x="0" y="0"/>
              <a:ext cx="2926080" cy="13716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14" name="Caller ID Spoofing…"/>
            <p:cNvSpPr txBox="1"/>
            <p:nvPr/>
          </p:nvSpPr>
          <p:spPr>
            <a:xfrm>
              <a:off x="117438" y="500293"/>
              <a:ext cx="2691204" cy="599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Caller ID Spoofing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Fake identity headers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Bypasses static blacklists entirely</a:t>
              </a:r>
            </a:p>
          </p:txBody>
        </p:sp>
      </p:grpSp>
      <p:grpSp>
        <p:nvGrpSpPr>
          <p:cNvPr id="118" name="Rounded Rectangle 8"/>
          <p:cNvGrpSpPr/>
          <p:nvPr/>
        </p:nvGrpSpPr>
        <p:grpSpPr>
          <a:xfrm>
            <a:off x="5577840" y="2468879"/>
            <a:ext cx="2926081" cy="1371601"/>
            <a:chOff x="0" y="0"/>
            <a:chExt cx="2926079" cy="13716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2926080" cy="13716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17" name="False Positive Block…"/>
            <p:cNvSpPr txBox="1"/>
            <p:nvPr/>
          </p:nvSpPr>
          <p:spPr>
            <a:xfrm>
              <a:off x="117438" y="500293"/>
              <a:ext cx="2691204" cy="599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False Positive Block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Legit client call dropped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Risks hospitals, couriers &amp; clients</a:t>
              </a:r>
            </a:p>
          </p:txBody>
        </p:sp>
      </p:grpSp>
      <p:grpSp>
        <p:nvGrpSpPr>
          <p:cNvPr id="121" name="Rounded Rectangle 9"/>
          <p:cNvGrpSpPr/>
          <p:nvPr/>
        </p:nvGrpSpPr>
        <p:grpSpPr>
          <a:xfrm>
            <a:off x="8686800" y="2468879"/>
            <a:ext cx="2926080" cy="1371601"/>
            <a:chOff x="0" y="0"/>
            <a:chExt cx="2926079" cy="1371600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2926080" cy="13716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20" name="Privacy Leaks…"/>
            <p:cNvSpPr txBox="1"/>
            <p:nvPr/>
          </p:nvSpPr>
          <p:spPr>
            <a:xfrm>
              <a:off x="117438" y="500293"/>
              <a:ext cx="2691204" cy="599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Privacy Leaks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Raw number sharing risks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Scores numbers with zero graph context</a:t>
              </a:r>
            </a:p>
          </p:txBody>
        </p:sp>
      </p:grpSp>
      <p:grpSp>
        <p:nvGrpSpPr>
          <p:cNvPr id="124" name="Rounded Rectangle 10"/>
          <p:cNvGrpSpPr/>
          <p:nvPr/>
        </p:nvGrpSpPr>
        <p:grpSpPr>
          <a:xfrm>
            <a:off x="5577840" y="4023359"/>
            <a:ext cx="2926081" cy="1371601"/>
            <a:chOff x="0" y="0"/>
            <a:chExt cx="2926079" cy="1371600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2926080" cy="13716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23" name="Static Blacklists…"/>
            <p:cNvSpPr txBox="1"/>
            <p:nvPr/>
          </p:nvSpPr>
          <p:spPr>
            <a:xfrm>
              <a:off x="117438" y="500293"/>
              <a:ext cx="2691204" cy="599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Static Blacklists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Outdated number lists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Enterprise screening tech stays costly</a:t>
              </a:r>
            </a:p>
          </p:txBody>
        </p:sp>
      </p:grpSp>
      <p:grpSp>
        <p:nvGrpSpPr>
          <p:cNvPr id="127" name="Rounded Rectangle 11"/>
          <p:cNvGrpSpPr/>
          <p:nvPr/>
        </p:nvGrpSpPr>
        <p:grpSpPr>
          <a:xfrm>
            <a:off x="8686800" y="4023359"/>
            <a:ext cx="2926080" cy="1371601"/>
            <a:chOff x="0" y="0"/>
            <a:chExt cx="2926079" cy="1371600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2926080" cy="13716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26" name="Uncertain Fraud…"/>
            <p:cNvSpPr txBox="1"/>
            <p:nvPr/>
          </p:nvSpPr>
          <p:spPr>
            <a:xfrm>
              <a:off x="117438" y="500293"/>
              <a:ext cx="2691204" cy="599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Uncertain Fraud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Zero real-time context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Unknown numbers, no threat signal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32" name="Rectangle 2"/>
          <p:cNvGrpSpPr/>
          <p:nvPr/>
        </p:nvGrpSpPr>
        <p:grpSpPr>
          <a:xfrm>
            <a:off x="0" y="-1"/>
            <a:ext cx="4114800" cy="731522"/>
            <a:chOff x="0" y="0"/>
            <a:chExt cx="4114800" cy="731520"/>
          </a:xfrm>
        </p:grpSpPr>
        <p:sp>
          <p:nvSpPr>
            <p:cNvPr id="130" name="Rectangle"/>
            <p:cNvSpPr/>
            <p:nvPr/>
          </p:nvSpPr>
          <p:spPr>
            <a:xfrm>
              <a:off x="0" y="-1"/>
              <a:ext cx="4114800" cy="731522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PROPOSED SOLUTION"/>
            <p:cNvSpPr txBox="1"/>
            <p:nvPr/>
          </p:nvSpPr>
          <p:spPr>
            <a:xfrm>
              <a:off x="233362" y="241389"/>
              <a:ext cx="3830956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PROPOSED SOLUTION</a:t>
              </a:r>
            </a:p>
          </p:txBody>
        </p:sp>
      </p:grpSp>
      <p:sp>
        <p:nvSpPr>
          <p:cNvPr id="133" name="TextBox 3"/>
          <p:cNvSpPr txBox="1"/>
          <p:nvPr/>
        </p:nvSpPr>
        <p:spPr>
          <a:xfrm>
            <a:off x="9646919" y="182879"/>
            <a:ext cx="111043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36" name="Rectangle 4"/>
          <p:cNvGrpSpPr/>
          <p:nvPr/>
        </p:nvGrpSpPr>
        <p:grpSpPr>
          <a:xfrm>
            <a:off x="365759" y="914400"/>
            <a:ext cx="6217922" cy="2011679"/>
            <a:chOff x="0" y="0"/>
            <a:chExt cx="6217920" cy="2011678"/>
          </a:xfrm>
        </p:grpSpPr>
        <p:sp>
          <p:nvSpPr>
            <p:cNvPr id="134" name="Rectangle"/>
            <p:cNvSpPr/>
            <p:nvPr/>
          </p:nvSpPr>
          <p:spPr>
            <a:xfrm>
              <a:off x="-1" y="0"/>
              <a:ext cx="6217922" cy="2011679"/>
            </a:xfrm>
            <a:prstGeom prst="rect">
              <a:avLst/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>
                  <a:solidFill>
                    <a:srgbClr val="FEF08A"/>
                  </a:solidFill>
                </a:defRPr>
              </a:pPr>
            </a:p>
          </p:txBody>
        </p:sp>
        <p:sp>
          <p:nvSpPr>
            <p:cNvPr id="135" name="WE PROPOSE AN INTEGRATED SMART THREAT INTERCEPTOR SYSTEM SENSING, SHA-256 PRIVACY HASHING, XGBOOST ML INFERENCE, SOCIAL GRAPH PROXIMITY &amp; SUB-200MS SCORING TO DETECT SPAM &amp; PROVIDE INSTANT INTERVENTION"/>
            <p:cNvSpPr txBox="1"/>
            <p:nvPr/>
          </p:nvSpPr>
          <p:spPr>
            <a:xfrm>
              <a:off x="141922" y="591119"/>
              <a:ext cx="6025516" cy="96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EF08A"/>
                  </a:solidFill>
                </a:defRPr>
              </a:pPr>
              <a:r>
                <a:t>WE PROPOSE AN INTEGRATED SMART THREAT INTERCEPTOR SYSTEM</a:t>
              </a:r>
              <a:br/>
              <a:r>
                <a:t>SENSING, SHA-256 PRIVACY HASHING, XGBOOST ML INFERENCE, SOCIAL GRAPH PROXIMITY &amp; SUB-200MS SCORING TO DETECT SPAM &amp; PROVIDE INSTANT INTERVENTION</a:t>
              </a:r>
            </a:p>
          </p:txBody>
        </p:sp>
      </p:grpSp>
      <p:grpSp>
        <p:nvGrpSpPr>
          <p:cNvPr id="139" name="Rounded Rectangle 5"/>
          <p:cNvGrpSpPr/>
          <p:nvPr/>
        </p:nvGrpSpPr>
        <p:grpSpPr>
          <a:xfrm>
            <a:off x="365759" y="3108960"/>
            <a:ext cx="1005841" cy="3291841"/>
            <a:chOff x="0" y="0"/>
            <a:chExt cx="1005839" cy="3291840"/>
          </a:xfrm>
        </p:grpSpPr>
        <p:sp>
          <p:nvSpPr>
            <p:cNvPr id="137" name="Rounded Rectangle"/>
            <p:cNvSpPr/>
            <p:nvPr/>
          </p:nvSpPr>
          <p:spPr>
            <a:xfrm>
              <a:off x="0" y="0"/>
              <a:ext cx="1005840" cy="32918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38" name="1. CALL EVENT…"/>
            <p:cNvSpPr txBox="1"/>
            <p:nvPr/>
          </p:nvSpPr>
          <p:spPr>
            <a:xfrm>
              <a:off x="81295" y="1283883"/>
              <a:ext cx="843249" cy="8155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1. CALL EVENT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TelecomManager intercepts incoming ID.</a:t>
              </a:r>
            </a:p>
          </p:txBody>
        </p:sp>
      </p:grpSp>
      <p:grpSp>
        <p:nvGrpSpPr>
          <p:cNvPr id="142" name="Rounded Rectangle 6"/>
          <p:cNvGrpSpPr/>
          <p:nvPr/>
        </p:nvGrpSpPr>
        <p:grpSpPr>
          <a:xfrm>
            <a:off x="1417319" y="3108960"/>
            <a:ext cx="1005840" cy="3291841"/>
            <a:chOff x="0" y="0"/>
            <a:chExt cx="1005839" cy="3291840"/>
          </a:xfrm>
        </p:grpSpPr>
        <p:sp>
          <p:nvSpPr>
            <p:cNvPr id="140" name="Rounded Rectangle"/>
            <p:cNvSpPr/>
            <p:nvPr/>
          </p:nvSpPr>
          <p:spPr>
            <a:xfrm>
              <a:off x="0" y="0"/>
              <a:ext cx="1005840" cy="32918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41" name="2. SHA-256 HASH…"/>
            <p:cNvSpPr txBox="1"/>
            <p:nvPr/>
          </p:nvSpPr>
          <p:spPr>
            <a:xfrm>
              <a:off x="81295" y="1353733"/>
              <a:ext cx="843249" cy="675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2. SHA-256 HASH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Phone number hashed locally.</a:t>
              </a:r>
            </a:p>
          </p:txBody>
        </p:sp>
      </p:grpSp>
      <p:grpSp>
        <p:nvGrpSpPr>
          <p:cNvPr id="145" name="Rounded Rectangle 7"/>
          <p:cNvGrpSpPr/>
          <p:nvPr/>
        </p:nvGrpSpPr>
        <p:grpSpPr>
          <a:xfrm>
            <a:off x="2468878" y="3108960"/>
            <a:ext cx="1005841" cy="3291841"/>
            <a:chOff x="0" y="0"/>
            <a:chExt cx="1005839" cy="3291840"/>
          </a:xfrm>
        </p:grpSpPr>
        <p:sp>
          <p:nvSpPr>
            <p:cNvPr id="143" name="Rounded Rectangle"/>
            <p:cNvSpPr/>
            <p:nvPr/>
          </p:nvSpPr>
          <p:spPr>
            <a:xfrm>
              <a:off x="0" y="0"/>
              <a:ext cx="1005840" cy="32918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44" name="3. XGBOOST ML…"/>
            <p:cNvSpPr txBox="1"/>
            <p:nvPr/>
          </p:nvSpPr>
          <p:spPr>
            <a:xfrm>
              <a:off x="81295" y="1353733"/>
              <a:ext cx="843249" cy="675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3. XGBOOST ML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Feature vector evaluated.</a:t>
              </a:r>
            </a:p>
          </p:txBody>
        </p:sp>
      </p:grpSp>
      <p:grpSp>
        <p:nvGrpSpPr>
          <p:cNvPr id="148" name="Rounded Rectangle 8"/>
          <p:cNvGrpSpPr/>
          <p:nvPr/>
        </p:nvGrpSpPr>
        <p:grpSpPr>
          <a:xfrm>
            <a:off x="3520438" y="3108960"/>
            <a:ext cx="1005841" cy="3291841"/>
            <a:chOff x="0" y="0"/>
            <a:chExt cx="1005839" cy="3291840"/>
          </a:xfrm>
        </p:grpSpPr>
        <p:sp>
          <p:nvSpPr>
            <p:cNvPr id="146" name="Rounded Rectangle"/>
            <p:cNvSpPr/>
            <p:nvPr/>
          </p:nvSpPr>
          <p:spPr>
            <a:xfrm>
              <a:off x="0" y="0"/>
              <a:ext cx="1005840" cy="32918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47" name="4. GRAPH CHECK…"/>
            <p:cNvSpPr txBox="1"/>
            <p:nvPr/>
          </p:nvSpPr>
          <p:spPr>
            <a:xfrm>
              <a:off x="81295" y="1283883"/>
              <a:ext cx="843249" cy="8155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4. GRAPH CHECK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Mutual contact degree analyzed.</a:t>
              </a:r>
            </a:p>
          </p:txBody>
        </p:sp>
      </p:grpSp>
      <p:grpSp>
        <p:nvGrpSpPr>
          <p:cNvPr id="151" name="Rounded Rectangle 9"/>
          <p:cNvGrpSpPr/>
          <p:nvPr/>
        </p:nvGrpSpPr>
        <p:grpSpPr>
          <a:xfrm>
            <a:off x="4572000" y="3108960"/>
            <a:ext cx="1005840" cy="3291841"/>
            <a:chOff x="0" y="0"/>
            <a:chExt cx="1005839" cy="3291840"/>
          </a:xfrm>
        </p:grpSpPr>
        <p:sp>
          <p:nvSpPr>
            <p:cNvPr id="149" name="Rounded Rectangle"/>
            <p:cNvSpPr/>
            <p:nvPr/>
          </p:nvSpPr>
          <p:spPr>
            <a:xfrm>
              <a:off x="0" y="0"/>
              <a:ext cx="1005840" cy="32918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50" name="5. FAST REST API…"/>
            <p:cNvSpPr txBox="1"/>
            <p:nvPr/>
          </p:nvSpPr>
          <p:spPr>
            <a:xfrm>
              <a:off x="81295" y="1283883"/>
              <a:ext cx="843249" cy="8155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5. FAST REST API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Sub-200ms threat score generated.</a:t>
              </a:r>
            </a:p>
          </p:txBody>
        </p:sp>
      </p:grpSp>
      <p:grpSp>
        <p:nvGrpSpPr>
          <p:cNvPr id="154" name="Rounded Rectangle 10"/>
          <p:cNvGrpSpPr/>
          <p:nvPr/>
        </p:nvGrpSpPr>
        <p:grpSpPr>
          <a:xfrm>
            <a:off x="5623559" y="3108960"/>
            <a:ext cx="1005841" cy="3291841"/>
            <a:chOff x="0" y="0"/>
            <a:chExt cx="1005839" cy="3291840"/>
          </a:xfrm>
        </p:grpSpPr>
        <p:sp>
          <p:nvSpPr>
            <p:cNvPr id="152" name="Rounded Rectangle"/>
            <p:cNvSpPr/>
            <p:nvPr/>
          </p:nvSpPr>
          <p:spPr>
            <a:xfrm>
              <a:off x="0" y="0"/>
              <a:ext cx="1005840" cy="32918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53" name="6. REAL-TIME UI…"/>
            <p:cNvSpPr txBox="1"/>
            <p:nvPr/>
          </p:nvSpPr>
          <p:spPr>
            <a:xfrm>
              <a:off x="81295" y="1283883"/>
              <a:ext cx="843249" cy="8155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6. REAL-TIME UI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Live alert banner displayed.</a:t>
              </a:r>
            </a:p>
          </p:txBody>
        </p:sp>
      </p:grpSp>
      <p:pic>
        <p:nvPicPr>
          <p:cNvPr id="155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66559" y="914400"/>
            <a:ext cx="5029201" cy="548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60" name="Rectangle 2"/>
          <p:cNvGrpSpPr/>
          <p:nvPr/>
        </p:nvGrpSpPr>
        <p:grpSpPr>
          <a:xfrm>
            <a:off x="0" y="-1"/>
            <a:ext cx="4114800" cy="731522"/>
            <a:chOff x="0" y="0"/>
            <a:chExt cx="4114800" cy="731520"/>
          </a:xfrm>
        </p:grpSpPr>
        <p:sp>
          <p:nvSpPr>
            <p:cNvPr id="158" name="Rectangle"/>
            <p:cNvSpPr/>
            <p:nvPr/>
          </p:nvSpPr>
          <p:spPr>
            <a:xfrm>
              <a:off x="0" y="-1"/>
              <a:ext cx="4114800" cy="731522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9" name="SYSTEM ALGORITHM"/>
            <p:cNvSpPr txBox="1"/>
            <p:nvPr/>
          </p:nvSpPr>
          <p:spPr>
            <a:xfrm>
              <a:off x="233362" y="241389"/>
              <a:ext cx="3830956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SYSTEM ALGORITHM</a:t>
              </a:r>
            </a:p>
          </p:txBody>
        </p:sp>
      </p:grpSp>
      <p:sp>
        <p:nvSpPr>
          <p:cNvPr id="161" name="TextBox 3"/>
          <p:cNvSpPr txBox="1"/>
          <p:nvPr/>
        </p:nvSpPr>
        <p:spPr>
          <a:xfrm>
            <a:off x="9646919" y="182879"/>
            <a:ext cx="111043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64" name="Rectangle 4"/>
          <p:cNvGrpSpPr/>
          <p:nvPr/>
        </p:nvGrpSpPr>
        <p:grpSpPr>
          <a:xfrm>
            <a:off x="365759" y="914400"/>
            <a:ext cx="5029201" cy="5486400"/>
            <a:chOff x="0" y="0"/>
            <a:chExt cx="5029200" cy="5486400"/>
          </a:xfrm>
        </p:grpSpPr>
        <p:sp>
          <p:nvSpPr>
            <p:cNvPr id="162" name="Rectangle"/>
            <p:cNvSpPr/>
            <p:nvPr/>
          </p:nvSpPr>
          <p:spPr>
            <a:xfrm>
              <a:off x="0" y="0"/>
              <a:ext cx="5029200" cy="54864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14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63" name="⚙️ ALGORITHM STEPS…"/>
            <p:cNvSpPr txBox="1"/>
            <p:nvPr/>
          </p:nvSpPr>
          <p:spPr>
            <a:xfrm>
              <a:off x="96202" y="361161"/>
              <a:ext cx="4836796" cy="47640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spAutoFit/>
            </a:bodyPr>
            <a:lstStyle/>
            <a:p>
              <a:pPr algn="ctr">
                <a:spcBef>
                  <a:spcPts val="1800"/>
                </a:spcBef>
                <a:defRPr b="1" sz="2000">
                  <a:solidFill>
                    <a:srgbClr val="1E5FA5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⚙️ </a:t>
              </a:r>
              <a:r>
                <a:t>ALGORITHM STEPS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DETECTION: TelecomManager detects incoming call event.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PRIVACY: Hash raw number using SHA-256 algorithm.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FEATURE VECTOR: Extract calls/hr, duration, spam reports.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ML ENGINE: XGBoost computes threat probability score.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GRAPH CHECK: Evaluates contact_degree mutual overlap.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THRESHOLDING: Risk &gt;= 0.70 flags threat (High Precision).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OUTPUT: Real-time UI warning banner overlay on phone.</a:t>
              </a:r>
            </a:p>
            <a:p>
              <a:pPr>
                <a:defRPr b="1" sz="1400">
                  <a:solidFill>
                    <a:srgbClr val="1E293B"/>
                  </a:solidFill>
                </a:defRPr>
              </a:pPr>
              <a:r>
                <a:t>• FAST RESPONSE: Sub-200ms total end-to-end execution.</a:t>
              </a:r>
            </a:p>
          </p:txBody>
        </p:sp>
      </p:grpSp>
      <p:grpSp>
        <p:nvGrpSpPr>
          <p:cNvPr id="167" name="Rounded Rectangle 5"/>
          <p:cNvGrpSpPr/>
          <p:nvPr/>
        </p:nvGrpSpPr>
        <p:grpSpPr>
          <a:xfrm>
            <a:off x="5669279" y="914400"/>
            <a:ext cx="6126481" cy="5486400"/>
            <a:chOff x="0" y="0"/>
            <a:chExt cx="6126479" cy="5486400"/>
          </a:xfrm>
        </p:grpSpPr>
        <p:sp>
          <p:nvSpPr>
            <p:cNvPr id="165" name="Rounded Rectangle"/>
            <p:cNvSpPr/>
            <p:nvPr/>
          </p:nvSpPr>
          <p:spPr>
            <a:xfrm>
              <a:off x="0" y="0"/>
              <a:ext cx="6126480" cy="54864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6" name="SYSTEM CONTROL FLOW DIAGRAM…"/>
            <p:cNvSpPr txBox="1"/>
            <p:nvPr/>
          </p:nvSpPr>
          <p:spPr>
            <a:xfrm>
              <a:off x="501186" y="1323647"/>
              <a:ext cx="5306988" cy="3067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spcBef>
                  <a:spcPts val="1500"/>
                </a:spcBef>
                <a:defRPr b="1">
                  <a:solidFill>
                    <a:srgbClr val="FEF08A"/>
                  </a:solidFill>
                </a:defRPr>
              </a:pPr>
              <a:r>
                <a:t>SYSTEM CONTROL FLOW DIAGRAM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1] Start System -&gt; Initialize TelecomManager &amp; Model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2] Incoming Call Received -&gt; Extract Caller ID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3] SHA-256 Anonymization -&gt; Hash Phone Number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4] Query Feature Store &amp; Graph -&gt; Fetch Metadata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5] Run XGBoost Model Inference -&gt; Calculate Risk P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6] Decision Check: Is Risk P &gt;= 0.70?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         --&gt; YES: Trigger High Threat Warning Banner &amp; Silence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         --&gt; NO : Allow Call &amp; Show Trust Indicator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7] Log Telemetry &amp; Return to Ready State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72" name="Rectangle 2"/>
          <p:cNvGrpSpPr/>
          <p:nvPr/>
        </p:nvGrpSpPr>
        <p:grpSpPr>
          <a:xfrm>
            <a:off x="0" y="-1"/>
            <a:ext cx="4114800" cy="731522"/>
            <a:chOff x="0" y="0"/>
            <a:chExt cx="4114800" cy="731520"/>
          </a:xfrm>
        </p:grpSpPr>
        <p:sp>
          <p:nvSpPr>
            <p:cNvPr id="170" name="Rectangle"/>
            <p:cNvSpPr/>
            <p:nvPr/>
          </p:nvSpPr>
          <p:spPr>
            <a:xfrm>
              <a:off x="0" y="-1"/>
              <a:ext cx="4114800" cy="731522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1" name="TECHNOLOGIES USED"/>
            <p:cNvSpPr txBox="1"/>
            <p:nvPr/>
          </p:nvSpPr>
          <p:spPr>
            <a:xfrm>
              <a:off x="233362" y="241389"/>
              <a:ext cx="3830956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TECHNOLOGIES USED</a:t>
              </a:r>
            </a:p>
          </p:txBody>
        </p:sp>
      </p:grpSp>
      <p:sp>
        <p:nvSpPr>
          <p:cNvPr id="173" name="TextBox 3"/>
          <p:cNvSpPr txBox="1"/>
          <p:nvPr/>
        </p:nvSpPr>
        <p:spPr>
          <a:xfrm>
            <a:off x="9646919" y="182879"/>
            <a:ext cx="111043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76" name="Rounded Rectangle 4"/>
          <p:cNvGrpSpPr/>
          <p:nvPr/>
        </p:nvGrpSpPr>
        <p:grpSpPr>
          <a:xfrm>
            <a:off x="365759" y="914400"/>
            <a:ext cx="5486401" cy="5486400"/>
            <a:chOff x="0" y="0"/>
            <a:chExt cx="5486400" cy="5486400"/>
          </a:xfrm>
        </p:grpSpPr>
        <p:sp>
          <p:nvSpPr>
            <p:cNvPr id="174" name="Rounded Rectangle"/>
            <p:cNvSpPr/>
            <p:nvPr/>
          </p:nvSpPr>
          <p:spPr>
            <a:xfrm>
              <a:off x="0" y="0"/>
              <a:ext cx="5486400" cy="54864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5" name="HARDWARE &amp; ML ENGINE…"/>
            <p:cNvSpPr txBox="1"/>
            <p:nvPr/>
          </p:nvSpPr>
          <p:spPr>
            <a:xfrm>
              <a:off x="501186" y="1042101"/>
              <a:ext cx="4666908" cy="3630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spcBef>
                  <a:spcPts val="2600"/>
                </a:spcBef>
                <a:defRPr b="1" sz="2200">
                  <a:solidFill>
                    <a:srgbClr val="FEF08A"/>
                  </a:solidFill>
                </a:defRPr>
              </a:pPr>
              <a:r>
                <a:t>HARDWARE &amp; ML ENGINE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PYTHON 3.13 – Core ML &amp; Server Runtime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XGBOOST – Gradient Boosted Decision Trees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SCIKIT-LEARN – Evaluation Metrics &amp; Pipelines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PANDAS &amp; NUMPY – Telemetry Data Processing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JOBLIB – Model Pipeline Serialization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SHA-256 ENCRYPTION – Anonymized Hashing</a:t>
              </a:r>
            </a:p>
          </p:txBody>
        </p:sp>
      </p:grpSp>
      <p:grpSp>
        <p:nvGrpSpPr>
          <p:cNvPr id="179" name="Rounded Rectangle 5"/>
          <p:cNvGrpSpPr/>
          <p:nvPr/>
        </p:nvGrpSpPr>
        <p:grpSpPr>
          <a:xfrm>
            <a:off x="6217920" y="914400"/>
            <a:ext cx="5577841" cy="5486400"/>
            <a:chOff x="0" y="0"/>
            <a:chExt cx="5577840" cy="5486400"/>
          </a:xfrm>
        </p:grpSpPr>
        <p:sp>
          <p:nvSpPr>
            <p:cNvPr id="177" name="Rounded Rectangle"/>
            <p:cNvSpPr/>
            <p:nvPr/>
          </p:nvSpPr>
          <p:spPr>
            <a:xfrm>
              <a:off x="0" y="0"/>
              <a:ext cx="5577841" cy="5486400"/>
            </a:xfrm>
            <a:prstGeom prst="roundRect">
              <a:avLst>
                <a:gd name="adj" fmla="val 16667"/>
              </a:avLst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8" name="SOFTWARE &amp; BACKEND API…"/>
            <p:cNvSpPr txBox="1"/>
            <p:nvPr/>
          </p:nvSpPr>
          <p:spPr>
            <a:xfrm>
              <a:off x="501186" y="1042101"/>
              <a:ext cx="4758348" cy="3630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spcBef>
                  <a:spcPts val="2600"/>
                </a:spcBef>
                <a:defRPr b="1" sz="2200">
                  <a:solidFill>
                    <a:srgbClr val="FFFFFF"/>
                  </a:solidFill>
                </a:defRPr>
              </a:pPr>
              <a:r>
                <a:t>SOFTWARE &amp; BACKEND API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FASTAPI – High-Speed Async REST Framework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UVICORN – High Performance ASGI Server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PYDANTIC V2 – Strict Payload Schema Validation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PYTEST &amp; HTTPX – Automated Integration Testing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ANDROID TELECOMMANAGER – Native Phone Hooks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NETWORKX / NEO4J – Social Contact Graph Engine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84" name="Rectangle 2"/>
          <p:cNvGrpSpPr/>
          <p:nvPr/>
        </p:nvGrpSpPr>
        <p:grpSpPr>
          <a:xfrm>
            <a:off x="0" y="-1"/>
            <a:ext cx="4114800" cy="731522"/>
            <a:chOff x="0" y="0"/>
            <a:chExt cx="4114800" cy="731520"/>
          </a:xfrm>
        </p:grpSpPr>
        <p:sp>
          <p:nvSpPr>
            <p:cNvPr id="182" name="Rectangle"/>
            <p:cNvSpPr/>
            <p:nvPr/>
          </p:nvSpPr>
          <p:spPr>
            <a:xfrm>
              <a:off x="0" y="-1"/>
              <a:ext cx="4114800" cy="731522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3" name="INNOVATION"/>
            <p:cNvSpPr txBox="1"/>
            <p:nvPr/>
          </p:nvSpPr>
          <p:spPr>
            <a:xfrm>
              <a:off x="233362" y="241389"/>
              <a:ext cx="3830956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INNOVATION</a:t>
              </a:r>
            </a:p>
          </p:txBody>
        </p:sp>
      </p:grpSp>
      <p:sp>
        <p:nvSpPr>
          <p:cNvPr id="185" name="TextBox 3"/>
          <p:cNvSpPr txBox="1"/>
          <p:nvPr/>
        </p:nvSpPr>
        <p:spPr>
          <a:xfrm>
            <a:off x="9646919" y="182879"/>
            <a:ext cx="111043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88" name="Card 1"/>
          <p:cNvGrpSpPr/>
          <p:nvPr/>
        </p:nvGrpSpPr>
        <p:grpSpPr>
          <a:xfrm>
            <a:off x="609600" y="1200000"/>
            <a:ext cx="3474619" cy="2350000"/>
            <a:chOff x="0" y="0"/>
            <a:chExt cx="3474618" cy="2349999"/>
          </a:xfrm>
        </p:grpSpPr>
        <p:sp>
          <p:nvSpPr>
            <p:cNvPr id="186" name="Rounded Rectangle"/>
            <p:cNvSpPr/>
            <p:nvPr/>
          </p:nvSpPr>
          <p:spPr>
            <a:xfrm>
              <a:off x="0" y="0"/>
              <a:ext cx="3474619" cy="2350000"/>
            </a:xfrm>
            <a:prstGeom prst="roundRect">
              <a:avLst>
                <a:gd name="adj" fmla="val 16667"/>
              </a:avLst>
            </a:prstGeom>
            <a:solidFill>
              <a:srgbClr val="EC4899"/>
            </a:solidFill>
            <a:ln w="9525" cap="flat">
              <a:solidFill>
                <a:srgbClr val="EC48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7" name="AFFORDABLE…"/>
            <p:cNvSpPr txBox="1"/>
            <p:nvPr/>
          </p:nvSpPr>
          <p:spPr>
            <a:xfrm>
              <a:off x="165200" y="119480"/>
              <a:ext cx="3144218" cy="2111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AFFORDABLE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Designed using accessible cloud REST APIs &amp; mobile SDKs.</a:t>
              </a:r>
            </a:p>
          </p:txBody>
        </p:sp>
      </p:grpSp>
      <p:grpSp>
        <p:nvGrpSpPr>
          <p:cNvPr id="191" name="Card 2"/>
          <p:cNvGrpSpPr/>
          <p:nvPr/>
        </p:nvGrpSpPr>
        <p:grpSpPr>
          <a:xfrm>
            <a:off x="4358537" y="1200000"/>
            <a:ext cx="3474619" cy="2350000"/>
            <a:chOff x="0" y="0"/>
            <a:chExt cx="3474618" cy="2349999"/>
          </a:xfrm>
        </p:grpSpPr>
        <p:sp>
          <p:nvSpPr>
            <p:cNvPr id="189" name="Rounded Rectangle"/>
            <p:cNvSpPr/>
            <p:nvPr/>
          </p:nvSpPr>
          <p:spPr>
            <a:xfrm>
              <a:off x="0" y="0"/>
              <a:ext cx="3474619" cy="2350000"/>
            </a:xfrm>
            <a:prstGeom prst="roundRect">
              <a:avLst>
                <a:gd name="adj" fmla="val 16667"/>
              </a:avLst>
            </a:prstGeom>
            <a:solidFill>
              <a:srgbClr val="6366F1"/>
            </a:solidFill>
            <a:ln w="9525" cap="flat">
              <a:solidFill>
                <a:srgbClr val="6366F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0" name="INTEGRATED…"/>
            <p:cNvSpPr txBox="1"/>
            <p:nvPr/>
          </p:nvSpPr>
          <p:spPr>
            <a:xfrm>
              <a:off x="165200" y="119480"/>
              <a:ext cx="3144218" cy="2111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INTEGRATED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Combines ML sensing, SHA-256 hashing &amp; contact graphs.</a:t>
              </a:r>
            </a:p>
          </p:txBody>
        </p:sp>
      </p:grpSp>
      <p:grpSp>
        <p:nvGrpSpPr>
          <p:cNvPr id="194" name="Card 3"/>
          <p:cNvGrpSpPr/>
          <p:nvPr/>
        </p:nvGrpSpPr>
        <p:grpSpPr>
          <a:xfrm>
            <a:off x="8107475" y="1200000"/>
            <a:ext cx="3474619" cy="2350000"/>
            <a:chOff x="0" y="0"/>
            <a:chExt cx="3474618" cy="2349999"/>
          </a:xfrm>
        </p:grpSpPr>
        <p:sp>
          <p:nvSpPr>
            <p:cNvPr id="192" name="Rounded Rectangle"/>
            <p:cNvSpPr/>
            <p:nvPr/>
          </p:nvSpPr>
          <p:spPr>
            <a:xfrm>
              <a:off x="0" y="0"/>
              <a:ext cx="3474619" cy="2350000"/>
            </a:xfrm>
            <a:prstGeom prst="roundRect">
              <a:avLst>
                <a:gd name="adj" fmla="val 16667"/>
              </a:avLst>
            </a:prstGeom>
            <a:solidFill>
              <a:srgbClr val="84CC16"/>
            </a:solidFill>
            <a:ln w="9525" cap="flat">
              <a:solidFill>
                <a:srgbClr val="84CC1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3" name="PORTABLE…"/>
            <p:cNvSpPr txBox="1"/>
            <p:nvPr/>
          </p:nvSpPr>
          <p:spPr>
            <a:xfrm>
              <a:off x="165200" y="119480"/>
              <a:ext cx="3144218" cy="2111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PORTABLE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Can be installed on any Android/Flutter mobile setup.</a:t>
              </a:r>
            </a:p>
          </p:txBody>
        </p:sp>
      </p:grpSp>
      <p:grpSp>
        <p:nvGrpSpPr>
          <p:cNvPr id="197" name="Card 4"/>
          <p:cNvGrpSpPr/>
          <p:nvPr/>
        </p:nvGrpSpPr>
        <p:grpSpPr>
          <a:xfrm>
            <a:off x="609600" y="3869999"/>
            <a:ext cx="3474619" cy="2350001"/>
            <a:chOff x="0" y="0"/>
            <a:chExt cx="3474618" cy="2349999"/>
          </a:xfrm>
        </p:grpSpPr>
        <p:sp>
          <p:nvSpPr>
            <p:cNvPr id="195" name="Rounded Rectangle"/>
            <p:cNvSpPr/>
            <p:nvPr/>
          </p:nvSpPr>
          <p:spPr>
            <a:xfrm>
              <a:off x="0" y="0"/>
              <a:ext cx="3474619" cy="2350000"/>
            </a:xfrm>
            <a:prstGeom prst="roundRect">
              <a:avLst>
                <a:gd name="adj" fmla="val 16667"/>
              </a:avLst>
            </a:prstGeom>
            <a:solidFill>
              <a:srgbClr val="A855F7"/>
            </a:solidFill>
            <a:ln w="9525" cap="flat">
              <a:solidFill>
                <a:srgbClr val="A855F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REAL-TIME…"/>
            <p:cNvSpPr txBox="1"/>
            <p:nvPr/>
          </p:nvSpPr>
          <p:spPr>
            <a:xfrm>
              <a:off x="165200" y="119480"/>
              <a:ext cx="3144218" cy="2111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REAL-TIME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Sub-200ms inference for immediate call intervention.</a:t>
              </a:r>
            </a:p>
          </p:txBody>
        </p:sp>
      </p:grpSp>
      <p:grpSp>
        <p:nvGrpSpPr>
          <p:cNvPr id="200" name="Card 5"/>
          <p:cNvGrpSpPr/>
          <p:nvPr/>
        </p:nvGrpSpPr>
        <p:grpSpPr>
          <a:xfrm>
            <a:off x="4358537" y="3869999"/>
            <a:ext cx="3474619" cy="2350001"/>
            <a:chOff x="0" y="0"/>
            <a:chExt cx="3474618" cy="2349999"/>
          </a:xfrm>
        </p:grpSpPr>
        <p:sp>
          <p:nvSpPr>
            <p:cNvPr id="198" name="Rounded Rectangle"/>
            <p:cNvSpPr/>
            <p:nvPr/>
          </p:nvSpPr>
          <p:spPr>
            <a:xfrm>
              <a:off x="0" y="0"/>
              <a:ext cx="3474619" cy="2350000"/>
            </a:xfrm>
            <a:prstGeom prst="roundRect">
              <a:avLst>
                <a:gd name="adj" fmla="val 16667"/>
              </a:avLst>
            </a:prstGeom>
            <a:solidFill>
              <a:srgbClr val="EAB308"/>
            </a:solidFill>
            <a:ln w="9525" cap="flat">
              <a:solidFill>
                <a:srgbClr val="EAB30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9" name="UPGRADEABLE…"/>
            <p:cNvSpPr txBox="1"/>
            <p:nvPr/>
          </p:nvSpPr>
          <p:spPr>
            <a:xfrm>
              <a:off x="165200" y="119480"/>
              <a:ext cx="3144218" cy="2111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UPGRADEABLE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Supports dynamic graph distance metrics &amp; ONNX compilation.</a:t>
              </a:r>
            </a:p>
          </p:txBody>
        </p:sp>
      </p:grpSp>
      <p:grpSp>
        <p:nvGrpSpPr>
          <p:cNvPr id="203" name="Card 6"/>
          <p:cNvGrpSpPr/>
          <p:nvPr/>
        </p:nvGrpSpPr>
        <p:grpSpPr>
          <a:xfrm>
            <a:off x="8107475" y="3869999"/>
            <a:ext cx="3474619" cy="2350001"/>
            <a:chOff x="0" y="0"/>
            <a:chExt cx="3474618" cy="2349999"/>
          </a:xfrm>
        </p:grpSpPr>
        <p:sp>
          <p:nvSpPr>
            <p:cNvPr id="201" name="Rounded Rectangle"/>
            <p:cNvSpPr/>
            <p:nvPr/>
          </p:nvSpPr>
          <p:spPr>
            <a:xfrm>
              <a:off x="0" y="0"/>
              <a:ext cx="3474619" cy="2350000"/>
            </a:xfrm>
            <a:prstGeom prst="roundRect">
              <a:avLst>
                <a:gd name="adj" fmla="val 16667"/>
              </a:avLst>
            </a:prstGeom>
            <a:solidFill>
              <a:srgbClr val="F97316"/>
            </a:solidFill>
            <a:ln w="9525" cap="flat">
              <a:solidFill>
                <a:srgbClr val="F9731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2" name="EVIDENCE-BASED…"/>
            <p:cNvSpPr txBox="1"/>
            <p:nvPr/>
          </p:nvSpPr>
          <p:spPr>
            <a:xfrm>
              <a:off x="165200" y="119480"/>
              <a:ext cx="3144218" cy="2111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EVIDENCE-BASED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Verified with 1.00 ROC-AUC &amp; 6/6 passing automated tests.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8" name="Rectangle 2"/>
          <p:cNvGrpSpPr/>
          <p:nvPr/>
        </p:nvGrpSpPr>
        <p:grpSpPr>
          <a:xfrm>
            <a:off x="0" y="-1"/>
            <a:ext cx="4114800" cy="731522"/>
            <a:chOff x="0" y="0"/>
            <a:chExt cx="4114800" cy="731520"/>
          </a:xfrm>
        </p:grpSpPr>
        <p:sp>
          <p:nvSpPr>
            <p:cNvPr id="206" name="Rectangle"/>
            <p:cNvSpPr/>
            <p:nvPr/>
          </p:nvSpPr>
          <p:spPr>
            <a:xfrm>
              <a:off x="0" y="-1"/>
              <a:ext cx="4114800" cy="731522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7" name="WHY WE'RE DIFFERENT"/>
            <p:cNvSpPr txBox="1"/>
            <p:nvPr/>
          </p:nvSpPr>
          <p:spPr>
            <a:xfrm>
              <a:off x="233362" y="241389"/>
              <a:ext cx="3830956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WHY WE'RE DIFFERENT</a:t>
              </a:r>
            </a:p>
          </p:txBody>
        </p:sp>
      </p:grpSp>
      <p:sp>
        <p:nvSpPr>
          <p:cNvPr id="209" name="TextBox 3"/>
          <p:cNvSpPr txBox="1"/>
          <p:nvPr/>
        </p:nvSpPr>
        <p:spPr>
          <a:xfrm>
            <a:off x="9646919" y="182879"/>
            <a:ext cx="111043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pic>
        <p:nvPicPr>
          <p:cNvPr id="21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914400"/>
            <a:ext cx="11430001" cy="548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5" name="Rectangle 2"/>
          <p:cNvGrpSpPr/>
          <p:nvPr/>
        </p:nvGrpSpPr>
        <p:grpSpPr>
          <a:xfrm>
            <a:off x="0" y="-1"/>
            <a:ext cx="4114800" cy="731522"/>
            <a:chOff x="0" y="0"/>
            <a:chExt cx="4114800" cy="731520"/>
          </a:xfrm>
        </p:grpSpPr>
        <p:sp>
          <p:nvSpPr>
            <p:cNvPr id="213" name="Rectangle"/>
            <p:cNvSpPr/>
            <p:nvPr/>
          </p:nvSpPr>
          <p:spPr>
            <a:xfrm>
              <a:off x="0" y="-1"/>
              <a:ext cx="4114800" cy="731522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4" name="MARKET RESEARCH"/>
            <p:cNvSpPr txBox="1"/>
            <p:nvPr/>
          </p:nvSpPr>
          <p:spPr>
            <a:xfrm>
              <a:off x="233362" y="241389"/>
              <a:ext cx="3830956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MARKET RESEARCH</a:t>
              </a:r>
            </a:p>
          </p:txBody>
        </p:sp>
      </p:grpSp>
      <p:sp>
        <p:nvSpPr>
          <p:cNvPr id="216" name="TextBox 3"/>
          <p:cNvSpPr txBox="1"/>
          <p:nvPr/>
        </p:nvSpPr>
        <p:spPr>
          <a:xfrm>
            <a:off x="9646919" y="182879"/>
            <a:ext cx="111043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219" name="Stat Banner"/>
          <p:cNvGrpSpPr/>
          <p:nvPr/>
        </p:nvGrpSpPr>
        <p:grpSpPr>
          <a:xfrm>
            <a:off x="365759" y="914400"/>
            <a:ext cx="11460176" cy="960120"/>
            <a:chOff x="0" y="0"/>
            <a:chExt cx="11460174" cy="960119"/>
          </a:xfrm>
        </p:grpSpPr>
        <p:sp>
          <p:nvSpPr>
            <p:cNvPr id="217" name="Rounded Rectangle"/>
            <p:cNvSpPr/>
            <p:nvPr/>
          </p:nvSpPr>
          <p:spPr>
            <a:xfrm>
              <a:off x="0" y="0"/>
              <a:ext cx="11460175" cy="96012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D6E4F5"/>
                  </a:solidFill>
                </a:defRPr>
              </a:pPr>
            </a:p>
          </p:txBody>
        </p:sp>
        <p:sp>
          <p:nvSpPr>
            <p:cNvPr id="218" name="📊 2.6M+ Do-Not-Call complaints filed with the FTC in FY2025 · 258.5M numbers on the National DNC Registry…"/>
            <p:cNvSpPr txBox="1"/>
            <p:nvPr/>
          </p:nvSpPr>
          <p:spPr>
            <a:xfrm>
              <a:off x="280231" y="138779"/>
              <a:ext cx="10899713" cy="6825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>
                  <a:solidFill>
                    <a:srgbClr val="FEF08A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📊 </a:t>
              </a:r>
              <a:r>
                <a:t>2.6M+ Do-Not-Call complaints filed with the FTC in FY2025 · 258.5M numbers on the National DNC Registry</a:t>
              </a:r>
            </a:p>
            <a:p>
              <a:pPr algn="ctr">
                <a:defRPr sz="1100">
                  <a:solidFill>
                    <a:srgbClr val="D6E4F5"/>
                  </a:solidFill>
                </a:defRPr>
              </a:pPr>
              <a:r>
                <a:t>Source: FTC National Do Not Call Registry Data Book, FY2025 (ftc.gov)</a:t>
              </a:r>
            </a:p>
          </p:txBody>
        </p:sp>
      </p:grpSp>
      <p:graphicFrame>
        <p:nvGraphicFramePr>
          <p:cNvPr id="220" name="Comparison Table"/>
          <p:cNvGraphicFramePr/>
          <p:nvPr/>
        </p:nvGraphicFramePr>
        <p:xfrm>
          <a:off x="365759" y="2011679"/>
          <a:ext cx="11460176" cy="37490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92035"/>
                <a:gridCol w="3667256"/>
                <a:gridCol w="2750442"/>
                <a:gridCol w="275044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1E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1E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SCALE / ADOPTION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1E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KEY LIMITATION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1E5FA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E293B"/>
                          </a:solidFill>
                        </a:rPr>
                        <a:t>Truecaller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Crowdsourced caller-ID database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500M+ users worldwide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Uploads your contacts to build its database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E293B"/>
                          </a:solidFill>
                        </a:rPr>
                        <a:t>Hiya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Carrier-integrated spam list + AI pattern detection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100M+ users, 10B+ calls blocked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Best results limited to partnered carriers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E293B"/>
                          </a:solidFill>
                        </a:rPr>
                        <a:t>RoboKiller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Audio fingerprinting &amp; predictive blocklists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Paid, from ~$4.99/mo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Static blocklists still miss neighbor-spoofed numbers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E5FA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✅ </a:t>
                      </a:r>
                      <a:r>
                        <a:t>SpamScanner (Ours)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E1E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E5FA5"/>
                          </a:solidFill>
                        </a:rPr>
                        <a:t>XGBoost risk score + mutual-contact graph, on-device SHA-256 hashing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E1E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E5FA5"/>
                          </a:solidFill>
                        </a:rPr>
                        <a:t>1.00 ROC-AUC on validation set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E1E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E5FA5"/>
                          </a:solidFill>
                        </a:rPr>
                        <a:t>Needs local call telemetry (freq., duration) to score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E1ECF9"/>
                    </a:solidFill>
                  </a:tcPr>
                </a:tc>
              </a:tr>
            </a:tbl>
          </a:graphicData>
        </a:graphic>
      </p:graphicFrame>
      <p:grpSp>
        <p:nvGrpSpPr>
          <p:cNvPr id="223" name="Validated Results"/>
          <p:cNvGrpSpPr/>
          <p:nvPr/>
        </p:nvGrpSpPr>
        <p:grpSpPr>
          <a:xfrm>
            <a:off x="365759" y="5943600"/>
            <a:ext cx="11460176" cy="640081"/>
            <a:chOff x="0" y="0"/>
            <a:chExt cx="11460174" cy="640080"/>
          </a:xfrm>
        </p:grpSpPr>
        <p:sp>
          <p:nvSpPr>
            <p:cNvPr id="221" name="Rounded Rectangle"/>
            <p:cNvSpPr/>
            <p:nvPr/>
          </p:nvSpPr>
          <p:spPr>
            <a:xfrm>
              <a:off x="0" y="0"/>
              <a:ext cx="11460175" cy="640081"/>
            </a:xfrm>
            <a:prstGeom prst="roundRect">
              <a:avLst>
                <a:gd name="adj" fmla="val 16667"/>
              </a:avLst>
            </a:prstGeom>
            <a:solidFill>
              <a:srgbClr val="EAF3E4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300">
                  <a:solidFill>
                    <a:srgbClr val="2F6B1F"/>
                  </a:solidFill>
                </a:defRPr>
              </a:pPr>
            </a:p>
          </p:txBody>
        </p:sp>
        <p:sp>
          <p:nvSpPr>
            <p:cNvPr id="222" name="✅ VALIDATED ON OUR PIPELINE: 1.00 ROC-AUC · 100% Precision &amp; Recall · 6/6 Automated Tests Passing · Sub-200ms Inference"/>
            <p:cNvSpPr txBox="1"/>
            <p:nvPr/>
          </p:nvSpPr>
          <p:spPr>
            <a:xfrm>
              <a:off x="81728" y="140970"/>
              <a:ext cx="11296719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300">
                  <a:solidFill>
                    <a:srgbClr val="2F6B1F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✅ </a:t>
              </a:r>
              <a:r>
                <a:t>VALIDATED ON OUR PIPELINE: 1.00 ROC-AUC · 100% Precision &amp; Recall · 6/6 Automated Tests Passing · Sub-200ms Inference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Background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5FA5"/>
          </a:solidFill>
          <a:ln>
            <a:solidFill>
              <a:srgbClr val="1E5F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Header Label"/>
          <p:cNvSpPr txBox="1"/>
          <p:nvPr/>
        </p:nvSpPr>
        <p:spPr>
          <a:xfrm>
            <a:off x="731519" y="548640"/>
            <a:ext cx="2403908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FFE066"/>
                </a:solidFill>
              </a:defRPr>
            </a:lvl1pPr>
          </a:lstStyle>
          <a:p>
            <a:pPr/>
            <a:r>
              <a:t>SIGNALTRUST / SPAMSCANNER</a:t>
            </a:r>
          </a:p>
        </p:txBody>
      </p:sp>
      <p:sp>
        <p:nvSpPr>
          <p:cNvPr id="227" name="Thank You Title"/>
          <p:cNvSpPr txBox="1"/>
          <p:nvPr/>
        </p:nvSpPr>
        <p:spPr>
          <a:xfrm>
            <a:off x="731519" y="2027669"/>
            <a:ext cx="10728657" cy="790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54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228" name="Divider"/>
          <p:cNvSpPr/>
          <p:nvPr/>
        </p:nvSpPr>
        <p:spPr>
          <a:xfrm>
            <a:off x="685799" y="4480559"/>
            <a:ext cx="10820097" cy="12701"/>
          </a:xfrm>
          <a:prstGeom prst="rect">
            <a:avLst/>
          </a:prstGeom>
          <a:solidFill>
            <a:srgbClr val="3D7AC0"/>
          </a:solidFill>
          <a:ln>
            <a:solidFill>
              <a:srgbClr val="3D7AC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am Info"/>
          <p:cNvSpPr txBox="1"/>
          <p:nvPr/>
        </p:nvSpPr>
        <p:spPr>
          <a:xfrm>
            <a:off x="731519" y="4800600"/>
            <a:ext cx="10728657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TEAM NAME: SPAMSCANNER CORE		TEAM ID: 42</a:t>
            </a:r>
          </a:p>
          <a:p>
            <a:pPr>
              <a:defRPr sz="1400">
                <a:solidFill>
                  <a:srgbClr val="D6E4F5"/>
                </a:solidFill>
              </a:defRPr>
            </a:pPr>
            <a:r>
              <a:t>TEAM MEMBERS: SOURAV RINWA &amp; ARVIND SHARMA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