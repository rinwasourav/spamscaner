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E5FA5"/>
          </a:solidFill>
          <a:ln>
            <a:solidFill>
              <a:srgbClr val="1E5FA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777238" y="457199"/>
            <a:ext cx="3055600" cy="42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1600">
                <a:solidFill>
                  <a:srgbClr val="FEF08A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🛡️ 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SIGNALTRUST / SPAMSCANNER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77239" y="1645921"/>
            <a:ext cx="5577842" cy="1995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2000"/>
              </a:spcBef>
              <a:defRPr b="1" sz="2600">
                <a:solidFill>
                  <a:srgbClr val="FFFFFF"/>
                </a:solidFill>
              </a:defRPr>
            </a:pPr>
            <a:r>
              <a:t>AN INTEGRATED AI &amp; GRAPH-BASED SMART SPAM CALL DETECTION &amp; REPLAY SYSTEM</a:t>
            </a:r>
          </a:p>
          <a:p>
            <a:pPr>
              <a:defRPr b="1" sz="1400">
                <a:solidFill>
                  <a:srgbClr val="FEF08A"/>
                </a:solidFill>
              </a:defRPr>
            </a:pPr>
            <a:r>
              <a:t>TEAM NAME: 2ByteCoders</a:t>
            </a:r>
            <a:br/>
            <a:r>
              <a:t>TEAM ID: 38</a:t>
            </a:r>
            <a:br/>
            <a:r>
              <a:t>TEAM MEMBERS : SOURAV RINWA &amp; ARVIND SHARMA</a:t>
            </a:r>
          </a:p>
        </p:txBody>
      </p:sp>
      <p:pic>
        <p:nvPicPr>
          <p:cNvPr id="9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75118" y="914400"/>
            <a:ext cx="5029203" cy="50292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02" name="Rectangle 2"/>
          <p:cNvGrpSpPr/>
          <p:nvPr/>
        </p:nvGrpSpPr>
        <p:grpSpPr>
          <a:xfrm>
            <a:off x="0" y="-4"/>
            <a:ext cx="4114800" cy="731525"/>
            <a:chOff x="0" y="-2"/>
            <a:chExt cx="4114800" cy="731524"/>
          </a:xfrm>
        </p:grpSpPr>
        <p:sp>
          <p:nvSpPr>
            <p:cNvPr id="100" name="Rectangle"/>
            <p:cNvSpPr/>
            <p:nvPr/>
          </p:nvSpPr>
          <p:spPr>
            <a:xfrm>
              <a:off x="0" y="-3"/>
              <a:ext cx="4114800" cy="731525"/>
            </a:xfrm>
            <a:prstGeom prst="rect">
              <a:avLst/>
            </a:prstGeom>
            <a:solidFill>
              <a:srgbClr val="5A9E37"/>
            </a:solidFill>
            <a:ln w="9525" cap="flat">
              <a:solidFill>
                <a:srgbClr val="5A9E3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1" name="PROBLEM STATEMENT"/>
            <p:cNvSpPr txBox="1"/>
            <p:nvPr/>
          </p:nvSpPr>
          <p:spPr>
            <a:xfrm>
              <a:off x="233361" y="241388"/>
              <a:ext cx="3830958" cy="340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2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PROBLEM STATEMENT</a:t>
              </a:r>
            </a:p>
          </p:txBody>
        </p:sp>
      </p:grpSp>
      <p:sp>
        <p:nvSpPr>
          <p:cNvPr id="103" name="TextBox 3"/>
          <p:cNvSpPr txBox="1"/>
          <p:nvPr/>
        </p:nvSpPr>
        <p:spPr>
          <a:xfrm>
            <a:off x="9646918" y="182879"/>
            <a:ext cx="1110428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400">
                <a:solidFill>
                  <a:srgbClr val="1E5FA5"/>
                </a:solidFill>
              </a:defRPr>
            </a:lvl1pPr>
          </a:lstStyle>
          <a:p>
            <a:pPr/>
            <a:r>
              <a:t>SIGNALTRUST</a:t>
            </a:r>
          </a:p>
        </p:txBody>
      </p:sp>
      <p:grpSp>
        <p:nvGrpSpPr>
          <p:cNvPr id="106" name="Rounded Rectangle 4"/>
          <p:cNvGrpSpPr/>
          <p:nvPr/>
        </p:nvGrpSpPr>
        <p:grpSpPr>
          <a:xfrm>
            <a:off x="365758" y="914399"/>
            <a:ext cx="5029203" cy="4846323"/>
            <a:chOff x="0" y="0"/>
            <a:chExt cx="5029201" cy="4846322"/>
          </a:xfrm>
        </p:grpSpPr>
        <p:sp>
          <p:nvSpPr>
            <p:cNvPr id="104" name="Rounded Rectangle"/>
            <p:cNvSpPr/>
            <p:nvPr/>
          </p:nvSpPr>
          <p:spPr>
            <a:xfrm>
              <a:off x="0" y="-1"/>
              <a:ext cx="5029202" cy="484632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solidFill>
                    <a:srgbClr val="1E293B"/>
                  </a:solidFill>
                </a:defRPr>
              </a:pPr>
            </a:p>
          </p:txBody>
        </p:sp>
        <p:sp>
          <p:nvSpPr>
            <p:cNvPr id="105" name="🚨 THE PROBLEM…"/>
            <p:cNvSpPr txBox="1"/>
            <p:nvPr/>
          </p:nvSpPr>
          <p:spPr>
            <a:xfrm>
              <a:off x="378500" y="1470353"/>
              <a:ext cx="4363642" cy="20427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1400"/>
                </a:spcBef>
                <a:defRPr b="1" sz="2800">
                  <a:solidFill>
                    <a:srgbClr val="BE1818"/>
                  </a:solidFill>
                  <a:latin typeface="+mj-lt"/>
                  <a:ea typeface="+mj-ea"/>
                  <a:cs typeface="+mj-cs"/>
                  <a:sym typeface="Helvetica"/>
                </a:defRPr>
              </a:pPr>
              <a:r>
                <a:t>🚨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THE PROBLEM</a:t>
              </a:r>
              <a:endParaRPr>
                <a:latin typeface="+mn-lt"/>
                <a:ea typeface="+mn-ea"/>
                <a:cs typeface="+mn-cs"/>
                <a:sym typeface="Calibri"/>
              </a:endParaRPr>
            </a:p>
            <a:p>
              <a:pPr algn="ctr">
                <a:spcBef>
                  <a:spcPts val="1200"/>
                </a:spcBef>
                <a:defRPr sz="1700">
                  <a:solidFill>
                    <a:srgbClr val="64748B"/>
                  </a:solidFill>
                </a:defRPr>
              </a:pPr>
              <a:r>
                <a:t>In telecommunications, determining caller authenticity is extremely difficult.</a:t>
              </a:r>
            </a:p>
            <a:p>
              <a:pPr algn="ctr">
                <a:defRPr sz="1600">
                  <a:solidFill>
                    <a:srgbClr val="1E293B"/>
                  </a:solidFill>
                </a:defRPr>
              </a:pPr>
              <a:r>
                <a:t>Six compounding risk factors — shown alongside — leave carriers, apps, and users exposed at every stage of a call.</a:t>
              </a:r>
            </a:p>
          </p:txBody>
        </p:sp>
      </p:grpSp>
      <p:grpSp>
        <p:nvGrpSpPr>
          <p:cNvPr id="109" name="Rounded Rectangle 5"/>
          <p:cNvGrpSpPr/>
          <p:nvPr/>
        </p:nvGrpSpPr>
        <p:grpSpPr>
          <a:xfrm>
            <a:off x="365758" y="5852159"/>
            <a:ext cx="11430003" cy="731523"/>
            <a:chOff x="0" y="0"/>
            <a:chExt cx="11430001" cy="731521"/>
          </a:xfrm>
        </p:grpSpPr>
        <p:sp>
          <p:nvSpPr>
            <p:cNvPr id="107" name="Rounded Rectangle"/>
            <p:cNvSpPr/>
            <p:nvPr/>
          </p:nvSpPr>
          <p:spPr>
            <a:xfrm>
              <a:off x="-1" y="0"/>
              <a:ext cx="11430003" cy="731522"/>
            </a:xfrm>
            <a:prstGeom prst="roundRect">
              <a:avLst>
                <a:gd name="adj" fmla="val 16667"/>
              </a:avLst>
            </a:prstGeom>
            <a:solidFill>
              <a:srgbClr val="FEE2E2"/>
            </a:solidFill>
            <a:ln w="9525" cap="flat">
              <a:solidFill>
                <a:srgbClr val="BE181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1300">
                  <a:solidFill>
                    <a:srgbClr val="BE1818"/>
                  </a:solidFill>
                </a:defRPr>
              </a:pPr>
            </a:p>
          </p:txBody>
        </p:sp>
        <p:sp>
          <p:nvSpPr>
            <p:cNvPr id="108" name="💡 IMPACT: Wrong decisions, user financial fraud, loss of trust in phone calls, and missed emergency communications."/>
            <p:cNvSpPr txBox="1"/>
            <p:nvPr/>
          </p:nvSpPr>
          <p:spPr>
            <a:xfrm>
              <a:off x="86191" y="186690"/>
              <a:ext cx="11257618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300">
                  <a:solidFill>
                    <a:srgbClr val="BE1818"/>
                  </a:solidFill>
                  <a:latin typeface="+mj-lt"/>
                  <a:ea typeface="+mj-ea"/>
                  <a:cs typeface="+mj-cs"/>
                  <a:sym typeface="Helvetica"/>
                </a:defRPr>
              </a:pPr>
              <a:r>
                <a:t>💡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IMPACT: Wrong decisions, user financial fraud, loss of trust in phone calls, and missed emergency communications.</a:t>
              </a:r>
            </a:p>
          </p:txBody>
        </p:sp>
      </p:grpSp>
      <p:grpSp>
        <p:nvGrpSpPr>
          <p:cNvPr id="112" name="Rounded Rectangle 6"/>
          <p:cNvGrpSpPr/>
          <p:nvPr/>
        </p:nvGrpSpPr>
        <p:grpSpPr>
          <a:xfrm>
            <a:off x="5577840" y="914400"/>
            <a:ext cx="2926083" cy="1371600"/>
            <a:chOff x="0" y="0"/>
            <a:chExt cx="2926082" cy="1371600"/>
          </a:xfrm>
        </p:grpSpPr>
        <p:sp>
          <p:nvSpPr>
            <p:cNvPr id="110" name="Rounded Rectangle"/>
            <p:cNvSpPr/>
            <p:nvPr/>
          </p:nvSpPr>
          <p:spPr>
            <a:xfrm>
              <a:off x="-1" y="0"/>
              <a:ext cx="2926084" cy="1371600"/>
            </a:xfrm>
            <a:prstGeom prst="roundRect">
              <a:avLst>
                <a:gd name="adj" fmla="val 16667"/>
              </a:avLst>
            </a:prstGeom>
            <a:solidFill>
              <a:srgbClr val="1E5FA5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900">
                  <a:solidFill>
                    <a:srgbClr val="BFDBFE"/>
                  </a:solidFill>
                </a:defRPr>
              </a:pPr>
            </a:p>
          </p:txBody>
        </p:sp>
        <p:sp>
          <p:nvSpPr>
            <p:cNvPr id="111" name="Fast Robocalls…"/>
            <p:cNvSpPr txBox="1"/>
            <p:nvPr/>
          </p:nvSpPr>
          <p:spPr>
            <a:xfrm>
              <a:off x="117437" y="500292"/>
              <a:ext cx="2691208" cy="5996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400">
                  <a:solidFill>
                    <a:srgbClr val="FFFFFF"/>
                  </a:solidFill>
                </a:defRPr>
              </a:pPr>
              <a:r>
                <a:t>Fast Robocalls</a:t>
              </a:r>
            </a:p>
            <a:p>
              <a:pPr algn="ctr">
                <a:defRPr sz="1100">
                  <a:solidFill>
                    <a:srgbClr val="FEF08A"/>
                  </a:solidFill>
                </a:defRPr>
              </a:pPr>
              <a:r>
                <a:t>High-volume spam bursts</a:t>
              </a:r>
            </a:p>
            <a:p>
              <a:pPr algn="ctr">
                <a:defRPr sz="900">
                  <a:solidFill>
                    <a:srgbClr val="BFDBFE"/>
                  </a:solidFill>
                </a:defRPr>
              </a:pPr>
              <a:r>
                <a:t>Milliseconds-fast, overwhelms carriers</a:t>
              </a:r>
            </a:p>
          </p:txBody>
        </p:sp>
      </p:grpSp>
      <p:grpSp>
        <p:nvGrpSpPr>
          <p:cNvPr id="115" name="Rounded Rectangle 7"/>
          <p:cNvGrpSpPr/>
          <p:nvPr/>
        </p:nvGrpSpPr>
        <p:grpSpPr>
          <a:xfrm>
            <a:off x="8686800" y="914400"/>
            <a:ext cx="2926081" cy="1371600"/>
            <a:chOff x="0" y="0"/>
            <a:chExt cx="2926080" cy="1371600"/>
          </a:xfrm>
        </p:grpSpPr>
        <p:sp>
          <p:nvSpPr>
            <p:cNvPr id="113" name="Rounded Rectangle"/>
            <p:cNvSpPr/>
            <p:nvPr/>
          </p:nvSpPr>
          <p:spPr>
            <a:xfrm>
              <a:off x="0" y="0"/>
              <a:ext cx="2926081" cy="1371600"/>
            </a:xfrm>
            <a:prstGeom prst="roundRect">
              <a:avLst>
                <a:gd name="adj" fmla="val 16667"/>
              </a:avLst>
            </a:prstGeom>
            <a:solidFill>
              <a:srgbClr val="1E5FA5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900">
                  <a:solidFill>
                    <a:srgbClr val="BFDBFE"/>
                  </a:solidFill>
                </a:defRPr>
              </a:pPr>
            </a:p>
          </p:txBody>
        </p:sp>
        <p:sp>
          <p:nvSpPr>
            <p:cNvPr id="114" name="Caller ID Spoofing…"/>
            <p:cNvSpPr txBox="1"/>
            <p:nvPr/>
          </p:nvSpPr>
          <p:spPr>
            <a:xfrm>
              <a:off x="117438" y="500292"/>
              <a:ext cx="2691205" cy="5996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400">
                  <a:solidFill>
                    <a:srgbClr val="FFFFFF"/>
                  </a:solidFill>
                </a:defRPr>
              </a:pPr>
              <a:r>
                <a:t>Caller ID Spoofing</a:t>
              </a:r>
            </a:p>
            <a:p>
              <a:pPr algn="ctr">
                <a:defRPr sz="1100">
                  <a:solidFill>
                    <a:srgbClr val="FEF08A"/>
                  </a:solidFill>
                </a:defRPr>
              </a:pPr>
              <a:r>
                <a:t>Fake identity headers</a:t>
              </a:r>
            </a:p>
            <a:p>
              <a:pPr algn="ctr">
                <a:defRPr sz="900">
                  <a:solidFill>
                    <a:srgbClr val="BFDBFE"/>
                  </a:solidFill>
                </a:defRPr>
              </a:pPr>
              <a:r>
                <a:t>Bypasses static blacklists entirely</a:t>
              </a:r>
            </a:p>
          </p:txBody>
        </p:sp>
      </p:grpSp>
      <p:grpSp>
        <p:nvGrpSpPr>
          <p:cNvPr id="118" name="Rounded Rectangle 8"/>
          <p:cNvGrpSpPr/>
          <p:nvPr/>
        </p:nvGrpSpPr>
        <p:grpSpPr>
          <a:xfrm>
            <a:off x="5577840" y="2468879"/>
            <a:ext cx="2926083" cy="1371601"/>
            <a:chOff x="0" y="0"/>
            <a:chExt cx="2926082" cy="1371600"/>
          </a:xfrm>
        </p:grpSpPr>
        <p:sp>
          <p:nvSpPr>
            <p:cNvPr id="116" name="Rounded Rectangle"/>
            <p:cNvSpPr/>
            <p:nvPr/>
          </p:nvSpPr>
          <p:spPr>
            <a:xfrm>
              <a:off x="-1" y="0"/>
              <a:ext cx="2926084" cy="1371601"/>
            </a:xfrm>
            <a:prstGeom prst="roundRect">
              <a:avLst>
                <a:gd name="adj" fmla="val 16667"/>
              </a:avLst>
            </a:prstGeom>
            <a:solidFill>
              <a:srgbClr val="1E5FA5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900">
                  <a:solidFill>
                    <a:srgbClr val="BFDBFE"/>
                  </a:solidFill>
                </a:defRPr>
              </a:pPr>
            </a:p>
          </p:txBody>
        </p:sp>
        <p:sp>
          <p:nvSpPr>
            <p:cNvPr id="117" name="False Positive Block…"/>
            <p:cNvSpPr txBox="1"/>
            <p:nvPr/>
          </p:nvSpPr>
          <p:spPr>
            <a:xfrm>
              <a:off x="117437" y="500293"/>
              <a:ext cx="2691208" cy="5996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400">
                  <a:solidFill>
                    <a:srgbClr val="FFFFFF"/>
                  </a:solidFill>
                </a:defRPr>
              </a:pPr>
              <a:r>
                <a:t>False Positive Block</a:t>
              </a:r>
            </a:p>
            <a:p>
              <a:pPr algn="ctr">
                <a:defRPr sz="1100">
                  <a:solidFill>
                    <a:srgbClr val="FEF08A"/>
                  </a:solidFill>
                </a:defRPr>
              </a:pPr>
              <a:r>
                <a:t>Legit client call dropped</a:t>
              </a:r>
            </a:p>
            <a:p>
              <a:pPr algn="ctr">
                <a:defRPr sz="900">
                  <a:solidFill>
                    <a:srgbClr val="BFDBFE"/>
                  </a:solidFill>
                </a:defRPr>
              </a:pPr>
              <a:r>
                <a:t>Risks hospitals, couriers &amp; clients</a:t>
              </a:r>
            </a:p>
          </p:txBody>
        </p:sp>
      </p:grpSp>
      <p:grpSp>
        <p:nvGrpSpPr>
          <p:cNvPr id="121" name="Rounded Rectangle 9"/>
          <p:cNvGrpSpPr/>
          <p:nvPr/>
        </p:nvGrpSpPr>
        <p:grpSpPr>
          <a:xfrm>
            <a:off x="8686800" y="2468879"/>
            <a:ext cx="2926081" cy="1371601"/>
            <a:chOff x="0" y="0"/>
            <a:chExt cx="2926080" cy="1371600"/>
          </a:xfrm>
        </p:grpSpPr>
        <p:sp>
          <p:nvSpPr>
            <p:cNvPr id="119" name="Rounded Rectangle"/>
            <p:cNvSpPr/>
            <p:nvPr/>
          </p:nvSpPr>
          <p:spPr>
            <a:xfrm>
              <a:off x="0" y="0"/>
              <a:ext cx="2926081" cy="1371601"/>
            </a:xfrm>
            <a:prstGeom prst="roundRect">
              <a:avLst>
                <a:gd name="adj" fmla="val 16667"/>
              </a:avLst>
            </a:prstGeom>
            <a:solidFill>
              <a:srgbClr val="1E5FA5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900">
                  <a:solidFill>
                    <a:srgbClr val="BFDBFE"/>
                  </a:solidFill>
                </a:defRPr>
              </a:pPr>
            </a:p>
          </p:txBody>
        </p:sp>
        <p:sp>
          <p:nvSpPr>
            <p:cNvPr id="120" name="Privacy Leaks…"/>
            <p:cNvSpPr txBox="1"/>
            <p:nvPr/>
          </p:nvSpPr>
          <p:spPr>
            <a:xfrm>
              <a:off x="117438" y="500293"/>
              <a:ext cx="2691205" cy="5996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400">
                  <a:solidFill>
                    <a:srgbClr val="FFFFFF"/>
                  </a:solidFill>
                </a:defRPr>
              </a:pPr>
              <a:r>
                <a:t>Privacy Leaks</a:t>
              </a:r>
            </a:p>
            <a:p>
              <a:pPr algn="ctr">
                <a:defRPr sz="1100">
                  <a:solidFill>
                    <a:srgbClr val="FEF08A"/>
                  </a:solidFill>
                </a:defRPr>
              </a:pPr>
              <a:r>
                <a:t>Raw number sharing risks</a:t>
              </a:r>
            </a:p>
            <a:p>
              <a:pPr algn="ctr">
                <a:defRPr sz="900">
                  <a:solidFill>
                    <a:srgbClr val="BFDBFE"/>
                  </a:solidFill>
                </a:defRPr>
              </a:pPr>
              <a:r>
                <a:t>Scores numbers with zero graph context</a:t>
              </a:r>
            </a:p>
          </p:txBody>
        </p:sp>
      </p:grpSp>
      <p:grpSp>
        <p:nvGrpSpPr>
          <p:cNvPr id="124" name="Rounded Rectangle 10"/>
          <p:cNvGrpSpPr/>
          <p:nvPr/>
        </p:nvGrpSpPr>
        <p:grpSpPr>
          <a:xfrm>
            <a:off x="5577840" y="4023359"/>
            <a:ext cx="2926083" cy="1371601"/>
            <a:chOff x="0" y="0"/>
            <a:chExt cx="2926082" cy="1371600"/>
          </a:xfrm>
        </p:grpSpPr>
        <p:sp>
          <p:nvSpPr>
            <p:cNvPr id="122" name="Rounded Rectangle"/>
            <p:cNvSpPr/>
            <p:nvPr/>
          </p:nvSpPr>
          <p:spPr>
            <a:xfrm>
              <a:off x="-1" y="0"/>
              <a:ext cx="2926084" cy="1371601"/>
            </a:xfrm>
            <a:prstGeom prst="roundRect">
              <a:avLst>
                <a:gd name="adj" fmla="val 16667"/>
              </a:avLst>
            </a:prstGeom>
            <a:solidFill>
              <a:srgbClr val="1E5FA5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900">
                  <a:solidFill>
                    <a:srgbClr val="BFDBFE"/>
                  </a:solidFill>
                </a:defRPr>
              </a:pPr>
            </a:p>
          </p:txBody>
        </p:sp>
        <p:sp>
          <p:nvSpPr>
            <p:cNvPr id="123" name="Static Blacklists…"/>
            <p:cNvSpPr txBox="1"/>
            <p:nvPr/>
          </p:nvSpPr>
          <p:spPr>
            <a:xfrm>
              <a:off x="117437" y="500293"/>
              <a:ext cx="2691208" cy="5996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400">
                  <a:solidFill>
                    <a:srgbClr val="FFFFFF"/>
                  </a:solidFill>
                </a:defRPr>
              </a:pPr>
              <a:r>
                <a:t>Static Blacklists</a:t>
              </a:r>
            </a:p>
            <a:p>
              <a:pPr algn="ctr">
                <a:defRPr sz="1100">
                  <a:solidFill>
                    <a:srgbClr val="FEF08A"/>
                  </a:solidFill>
                </a:defRPr>
              </a:pPr>
              <a:r>
                <a:t>Outdated number lists</a:t>
              </a:r>
            </a:p>
            <a:p>
              <a:pPr algn="ctr">
                <a:defRPr sz="900">
                  <a:solidFill>
                    <a:srgbClr val="BFDBFE"/>
                  </a:solidFill>
                </a:defRPr>
              </a:pPr>
              <a:r>
                <a:t>Enterprise screening tech stays costly</a:t>
              </a:r>
            </a:p>
          </p:txBody>
        </p:sp>
      </p:grpSp>
      <p:grpSp>
        <p:nvGrpSpPr>
          <p:cNvPr id="127" name="Rounded Rectangle 11"/>
          <p:cNvGrpSpPr/>
          <p:nvPr/>
        </p:nvGrpSpPr>
        <p:grpSpPr>
          <a:xfrm>
            <a:off x="8686800" y="4023359"/>
            <a:ext cx="2926081" cy="1371601"/>
            <a:chOff x="0" y="0"/>
            <a:chExt cx="2926080" cy="1371600"/>
          </a:xfrm>
        </p:grpSpPr>
        <p:sp>
          <p:nvSpPr>
            <p:cNvPr id="125" name="Rounded Rectangle"/>
            <p:cNvSpPr/>
            <p:nvPr/>
          </p:nvSpPr>
          <p:spPr>
            <a:xfrm>
              <a:off x="0" y="0"/>
              <a:ext cx="2926081" cy="1371601"/>
            </a:xfrm>
            <a:prstGeom prst="roundRect">
              <a:avLst>
                <a:gd name="adj" fmla="val 16667"/>
              </a:avLst>
            </a:prstGeom>
            <a:solidFill>
              <a:srgbClr val="1E5FA5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900">
                  <a:solidFill>
                    <a:srgbClr val="BFDBFE"/>
                  </a:solidFill>
                </a:defRPr>
              </a:pPr>
            </a:p>
          </p:txBody>
        </p:sp>
        <p:sp>
          <p:nvSpPr>
            <p:cNvPr id="126" name="Uncertain Fraud…"/>
            <p:cNvSpPr txBox="1"/>
            <p:nvPr/>
          </p:nvSpPr>
          <p:spPr>
            <a:xfrm>
              <a:off x="117438" y="500293"/>
              <a:ext cx="2691205" cy="5996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400">
                  <a:solidFill>
                    <a:srgbClr val="FFFFFF"/>
                  </a:solidFill>
                </a:defRPr>
              </a:pPr>
              <a:r>
                <a:t>Uncertain Fraud</a:t>
              </a:r>
            </a:p>
            <a:p>
              <a:pPr algn="ctr">
                <a:defRPr sz="1100">
                  <a:solidFill>
                    <a:srgbClr val="FEF08A"/>
                  </a:solidFill>
                </a:defRPr>
              </a:pPr>
              <a:r>
                <a:t>Zero real-time context</a:t>
              </a:r>
            </a:p>
            <a:p>
              <a:pPr algn="ctr">
                <a:defRPr sz="900">
                  <a:solidFill>
                    <a:srgbClr val="BFDBFE"/>
                  </a:solidFill>
                </a:defRPr>
              </a:pPr>
              <a:r>
                <a:t>Unknown numbers, no threat signal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32" name="Rectangle 2"/>
          <p:cNvGrpSpPr/>
          <p:nvPr/>
        </p:nvGrpSpPr>
        <p:grpSpPr>
          <a:xfrm>
            <a:off x="0" y="-4"/>
            <a:ext cx="4114800" cy="731525"/>
            <a:chOff x="0" y="-2"/>
            <a:chExt cx="4114800" cy="731524"/>
          </a:xfrm>
        </p:grpSpPr>
        <p:sp>
          <p:nvSpPr>
            <p:cNvPr id="130" name="Rectangle"/>
            <p:cNvSpPr/>
            <p:nvPr/>
          </p:nvSpPr>
          <p:spPr>
            <a:xfrm>
              <a:off x="0" y="-3"/>
              <a:ext cx="4114800" cy="731525"/>
            </a:xfrm>
            <a:prstGeom prst="rect">
              <a:avLst/>
            </a:prstGeom>
            <a:solidFill>
              <a:srgbClr val="5A9E37"/>
            </a:solidFill>
            <a:ln w="9525" cap="flat">
              <a:solidFill>
                <a:srgbClr val="5A9E3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1" name="PROPOSED SOLUTION"/>
            <p:cNvSpPr txBox="1"/>
            <p:nvPr/>
          </p:nvSpPr>
          <p:spPr>
            <a:xfrm>
              <a:off x="233361" y="241388"/>
              <a:ext cx="3830958" cy="340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2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PROPOSED SOLUTION</a:t>
              </a:r>
            </a:p>
          </p:txBody>
        </p:sp>
      </p:grpSp>
      <p:sp>
        <p:nvSpPr>
          <p:cNvPr id="133" name="TextBox 3"/>
          <p:cNvSpPr txBox="1"/>
          <p:nvPr/>
        </p:nvSpPr>
        <p:spPr>
          <a:xfrm>
            <a:off x="9646918" y="182879"/>
            <a:ext cx="1110428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400">
                <a:solidFill>
                  <a:srgbClr val="1E5FA5"/>
                </a:solidFill>
              </a:defRPr>
            </a:lvl1pPr>
          </a:lstStyle>
          <a:p>
            <a:pPr/>
            <a:r>
              <a:t>SIGNALTRUST</a:t>
            </a:r>
          </a:p>
        </p:txBody>
      </p:sp>
      <p:grpSp>
        <p:nvGrpSpPr>
          <p:cNvPr id="136" name="Rectangle 4"/>
          <p:cNvGrpSpPr/>
          <p:nvPr/>
        </p:nvGrpSpPr>
        <p:grpSpPr>
          <a:xfrm>
            <a:off x="365758" y="914400"/>
            <a:ext cx="6217925" cy="2011679"/>
            <a:chOff x="0" y="0"/>
            <a:chExt cx="6217923" cy="2011678"/>
          </a:xfrm>
        </p:grpSpPr>
        <p:sp>
          <p:nvSpPr>
            <p:cNvPr id="134" name="Rectangle"/>
            <p:cNvSpPr/>
            <p:nvPr/>
          </p:nvSpPr>
          <p:spPr>
            <a:xfrm>
              <a:off x="-1" y="0"/>
              <a:ext cx="6217925" cy="2011679"/>
            </a:xfrm>
            <a:prstGeom prst="rect">
              <a:avLst/>
            </a:prstGeom>
            <a:solidFill>
              <a:srgbClr val="1E5FA5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1400">
                  <a:solidFill>
                    <a:srgbClr val="FEF08A"/>
                  </a:solidFill>
                </a:defRPr>
              </a:pPr>
            </a:p>
          </p:txBody>
        </p:sp>
        <p:sp>
          <p:nvSpPr>
            <p:cNvPr id="135" name="WE PROPOSE AN INTEGRATED SMART THREAT INTERCEPTOR SYSTEM SENSING, SHA-256 PRIVACY HASHING, XGBOOST ML INFERENCE, SOCIAL GRAPH PROXIMITY &amp; SUB-200MS SCORING TO DETECT SPAM &amp; PROVIDE INSTANT INTERVENTION"/>
            <p:cNvSpPr txBox="1"/>
            <p:nvPr/>
          </p:nvSpPr>
          <p:spPr>
            <a:xfrm>
              <a:off x="141921" y="591119"/>
              <a:ext cx="6025520" cy="9665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400">
                  <a:solidFill>
                    <a:srgbClr val="FEF08A"/>
                  </a:solidFill>
                </a:defRPr>
              </a:pPr>
              <a:r>
                <a:t>WE PROPOSE AN INTEGRATED SMART THREAT INTERCEPTOR SYSTEM</a:t>
              </a:r>
              <a:br/>
              <a:r>
                <a:t>SENSING, SHA-256 PRIVACY HASHING, XGBOOST ML INFERENCE, SOCIAL GRAPH PROXIMITY &amp; SUB-200MS SCORING TO DETECT SPAM &amp; PROVIDE INSTANT INTERVENTION</a:t>
              </a:r>
            </a:p>
          </p:txBody>
        </p:sp>
      </p:grpSp>
      <p:grpSp>
        <p:nvGrpSpPr>
          <p:cNvPr id="139" name="Rounded Rectangle 5"/>
          <p:cNvGrpSpPr/>
          <p:nvPr/>
        </p:nvGrpSpPr>
        <p:grpSpPr>
          <a:xfrm>
            <a:off x="365758" y="3108959"/>
            <a:ext cx="1005844" cy="3291844"/>
            <a:chOff x="0" y="0"/>
            <a:chExt cx="1005842" cy="3291842"/>
          </a:xfrm>
        </p:grpSpPr>
        <p:sp>
          <p:nvSpPr>
            <p:cNvPr id="137" name="Rounded Rectangle"/>
            <p:cNvSpPr/>
            <p:nvPr/>
          </p:nvSpPr>
          <p:spPr>
            <a:xfrm>
              <a:off x="-1" y="-1"/>
              <a:ext cx="1005844" cy="329184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900">
                  <a:solidFill>
                    <a:srgbClr val="1E293B"/>
                  </a:solidFill>
                </a:defRPr>
              </a:pPr>
            </a:p>
          </p:txBody>
        </p:sp>
        <p:sp>
          <p:nvSpPr>
            <p:cNvPr id="138" name="1. CALL EVENT…"/>
            <p:cNvSpPr txBox="1"/>
            <p:nvPr/>
          </p:nvSpPr>
          <p:spPr>
            <a:xfrm>
              <a:off x="81295" y="1283883"/>
              <a:ext cx="843251" cy="8155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000">
                  <a:solidFill>
                    <a:srgbClr val="1E5FA5"/>
                  </a:solidFill>
                </a:defRPr>
              </a:pPr>
              <a:r>
                <a:t>1. CALL EVENT</a:t>
              </a:r>
            </a:p>
            <a:p>
              <a:pPr>
                <a:defRPr sz="900">
                  <a:solidFill>
                    <a:srgbClr val="1E293B"/>
                  </a:solidFill>
                </a:defRPr>
              </a:pPr>
              <a:r>
                <a:t>TelecomManager intercepts incoming ID.</a:t>
              </a:r>
            </a:p>
          </p:txBody>
        </p:sp>
      </p:grpSp>
      <p:grpSp>
        <p:nvGrpSpPr>
          <p:cNvPr id="142" name="Rounded Rectangle 6"/>
          <p:cNvGrpSpPr/>
          <p:nvPr/>
        </p:nvGrpSpPr>
        <p:grpSpPr>
          <a:xfrm>
            <a:off x="1417319" y="3108959"/>
            <a:ext cx="1005841" cy="3291844"/>
            <a:chOff x="0" y="0"/>
            <a:chExt cx="1005840" cy="3291842"/>
          </a:xfrm>
        </p:grpSpPr>
        <p:sp>
          <p:nvSpPr>
            <p:cNvPr id="140" name="Rounded Rectangle"/>
            <p:cNvSpPr/>
            <p:nvPr/>
          </p:nvSpPr>
          <p:spPr>
            <a:xfrm>
              <a:off x="0" y="-1"/>
              <a:ext cx="1005841" cy="329184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900">
                  <a:solidFill>
                    <a:srgbClr val="1E293B"/>
                  </a:solidFill>
                </a:defRPr>
              </a:pPr>
            </a:p>
          </p:txBody>
        </p:sp>
        <p:sp>
          <p:nvSpPr>
            <p:cNvPr id="141" name="2. SHA-256 HASH…"/>
            <p:cNvSpPr txBox="1"/>
            <p:nvPr/>
          </p:nvSpPr>
          <p:spPr>
            <a:xfrm>
              <a:off x="81295" y="1353733"/>
              <a:ext cx="843250" cy="675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000">
                  <a:solidFill>
                    <a:srgbClr val="1E5FA5"/>
                  </a:solidFill>
                </a:defRPr>
              </a:pPr>
              <a:r>
                <a:t>2. SHA-256 HASH</a:t>
              </a:r>
            </a:p>
            <a:p>
              <a:pPr>
                <a:defRPr sz="900">
                  <a:solidFill>
                    <a:srgbClr val="1E293B"/>
                  </a:solidFill>
                </a:defRPr>
              </a:pPr>
              <a:r>
                <a:t>Phone number hashed locally.</a:t>
              </a:r>
            </a:p>
          </p:txBody>
        </p:sp>
      </p:grpSp>
      <p:grpSp>
        <p:nvGrpSpPr>
          <p:cNvPr id="145" name="Rounded Rectangle 7"/>
          <p:cNvGrpSpPr/>
          <p:nvPr/>
        </p:nvGrpSpPr>
        <p:grpSpPr>
          <a:xfrm>
            <a:off x="2468877" y="3108959"/>
            <a:ext cx="1005844" cy="3291844"/>
            <a:chOff x="0" y="0"/>
            <a:chExt cx="1005842" cy="3291842"/>
          </a:xfrm>
        </p:grpSpPr>
        <p:sp>
          <p:nvSpPr>
            <p:cNvPr id="143" name="Rounded Rectangle"/>
            <p:cNvSpPr/>
            <p:nvPr/>
          </p:nvSpPr>
          <p:spPr>
            <a:xfrm>
              <a:off x="-1" y="-1"/>
              <a:ext cx="1005844" cy="329184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900">
                  <a:solidFill>
                    <a:srgbClr val="1E293B"/>
                  </a:solidFill>
                </a:defRPr>
              </a:pPr>
            </a:p>
          </p:txBody>
        </p:sp>
        <p:sp>
          <p:nvSpPr>
            <p:cNvPr id="144" name="3. XGBOOST ML…"/>
            <p:cNvSpPr txBox="1"/>
            <p:nvPr/>
          </p:nvSpPr>
          <p:spPr>
            <a:xfrm>
              <a:off x="81295" y="1353733"/>
              <a:ext cx="843251" cy="675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000">
                  <a:solidFill>
                    <a:srgbClr val="1E5FA5"/>
                  </a:solidFill>
                </a:defRPr>
              </a:pPr>
              <a:r>
                <a:t>3. XGBOOST ML</a:t>
              </a:r>
            </a:p>
            <a:p>
              <a:pPr>
                <a:defRPr sz="900">
                  <a:solidFill>
                    <a:srgbClr val="1E293B"/>
                  </a:solidFill>
                </a:defRPr>
              </a:pPr>
              <a:r>
                <a:t>Feature vector evaluated.</a:t>
              </a:r>
            </a:p>
          </p:txBody>
        </p:sp>
      </p:grpSp>
      <p:grpSp>
        <p:nvGrpSpPr>
          <p:cNvPr id="148" name="Rounded Rectangle 8"/>
          <p:cNvGrpSpPr/>
          <p:nvPr/>
        </p:nvGrpSpPr>
        <p:grpSpPr>
          <a:xfrm>
            <a:off x="3520437" y="3108959"/>
            <a:ext cx="1005843" cy="3291844"/>
            <a:chOff x="0" y="0"/>
            <a:chExt cx="1005842" cy="3291842"/>
          </a:xfrm>
        </p:grpSpPr>
        <p:sp>
          <p:nvSpPr>
            <p:cNvPr id="146" name="Rounded Rectangle"/>
            <p:cNvSpPr/>
            <p:nvPr/>
          </p:nvSpPr>
          <p:spPr>
            <a:xfrm>
              <a:off x="-1" y="-1"/>
              <a:ext cx="1005844" cy="329184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900">
                  <a:solidFill>
                    <a:srgbClr val="1E293B"/>
                  </a:solidFill>
                </a:defRPr>
              </a:pPr>
            </a:p>
          </p:txBody>
        </p:sp>
        <p:sp>
          <p:nvSpPr>
            <p:cNvPr id="147" name="4. GRAPH CHECK…"/>
            <p:cNvSpPr txBox="1"/>
            <p:nvPr/>
          </p:nvSpPr>
          <p:spPr>
            <a:xfrm>
              <a:off x="81295" y="1283883"/>
              <a:ext cx="843251" cy="8155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000">
                  <a:solidFill>
                    <a:srgbClr val="1E5FA5"/>
                  </a:solidFill>
                </a:defRPr>
              </a:pPr>
              <a:r>
                <a:t>4. GRAPH CHECK</a:t>
              </a:r>
            </a:p>
            <a:p>
              <a:pPr>
                <a:defRPr sz="900">
                  <a:solidFill>
                    <a:srgbClr val="1E293B"/>
                  </a:solidFill>
                </a:defRPr>
              </a:pPr>
              <a:r>
                <a:t>Mutual contact degree analyzed.</a:t>
              </a:r>
            </a:p>
          </p:txBody>
        </p:sp>
      </p:grpSp>
      <p:grpSp>
        <p:nvGrpSpPr>
          <p:cNvPr id="151" name="Rounded Rectangle 9"/>
          <p:cNvGrpSpPr/>
          <p:nvPr/>
        </p:nvGrpSpPr>
        <p:grpSpPr>
          <a:xfrm>
            <a:off x="4572000" y="3108959"/>
            <a:ext cx="1005841" cy="3291844"/>
            <a:chOff x="0" y="0"/>
            <a:chExt cx="1005840" cy="3291842"/>
          </a:xfrm>
        </p:grpSpPr>
        <p:sp>
          <p:nvSpPr>
            <p:cNvPr id="149" name="Rounded Rectangle"/>
            <p:cNvSpPr/>
            <p:nvPr/>
          </p:nvSpPr>
          <p:spPr>
            <a:xfrm>
              <a:off x="0" y="-1"/>
              <a:ext cx="1005841" cy="329184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900">
                  <a:solidFill>
                    <a:srgbClr val="1E293B"/>
                  </a:solidFill>
                </a:defRPr>
              </a:pPr>
            </a:p>
          </p:txBody>
        </p:sp>
        <p:sp>
          <p:nvSpPr>
            <p:cNvPr id="150" name="5. FAST REST API…"/>
            <p:cNvSpPr txBox="1"/>
            <p:nvPr/>
          </p:nvSpPr>
          <p:spPr>
            <a:xfrm>
              <a:off x="81295" y="1283883"/>
              <a:ext cx="843250" cy="8155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000">
                  <a:solidFill>
                    <a:srgbClr val="1E5FA5"/>
                  </a:solidFill>
                </a:defRPr>
              </a:pPr>
              <a:r>
                <a:t>5. FAST REST API</a:t>
              </a:r>
            </a:p>
            <a:p>
              <a:pPr>
                <a:defRPr sz="900">
                  <a:solidFill>
                    <a:srgbClr val="1E293B"/>
                  </a:solidFill>
                </a:defRPr>
              </a:pPr>
              <a:r>
                <a:t>Sub-200ms threat score generated.</a:t>
              </a:r>
            </a:p>
          </p:txBody>
        </p:sp>
      </p:grpSp>
      <p:grpSp>
        <p:nvGrpSpPr>
          <p:cNvPr id="154" name="Rounded Rectangle 10"/>
          <p:cNvGrpSpPr/>
          <p:nvPr/>
        </p:nvGrpSpPr>
        <p:grpSpPr>
          <a:xfrm>
            <a:off x="5623559" y="3108959"/>
            <a:ext cx="1005843" cy="3291844"/>
            <a:chOff x="0" y="0"/>
            <a:chExt cx="1005842" cy="3291842"/>
          </a:xfrm>
        </p:grpSpPr>
        <p:sp>
          <p:nvSpPr>
            <p:cNvPr id="152" name="Rounded Rectangle"/>
            <p:cNvSpPr/>
            <p:nvPr/>
          </p:nvSpPr>
          <p:spPr>
            <a:xfrm>
              <a:off x="-1" y="-1"/>
              <a:ext cx="1005844" cy="329184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900">
                  <a:solidFill>
                    <a:srgbClr val="1E293B"/>
                  </a:solidFill>
                </a:defRPr>
              </a:pPr>
            </a:p>
          </p:txBody>
        </p:sp>
        <p:sp>
          <p:nvSpPr>
            <p:cNvPr id="153" name="6. REAL-TIME UI…"/>
            <p:cNvSpPr txBox="1"/>
            <p:nvPr/>
          </p:nvSpPr>
          <p:spPr>
            <a:xfrm>
              <a:off x="81295" y="1283883"/>
              <a:ext cx="843251" cy="8155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000">
                  <a:solidFill>
                    <a:srgbClr val="1E5FA5"/>
                  </a:solidFill>
                </a:defRPr>
              </a:pPr>
              <a:r>
                <a:t>6. REAL-TIME UI</a:t>
              </a:r>
            </a:p>
            <a:p>
              <a:pPr>
                <a:defRPr sz="900">
                  <a:solidFill>
                    <a:srgbClr val="1E293B"/>
                  </a:solidFill>
                </a:defRPr>
              </a:pPr>
              <a:r>
                <a:t>Live alert banner displayed.</a:t>
              </a:r>
            </a:p>
          </p:txBody>
        </p:sp>
      </p:grpSp>
      <p:pic>
        <p:nvPicPr>
          <p:cNvPr id="155" name="Picture 11" descr="Picture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66559" y="914400"/>
            <a:ext cx="5029202" cy="548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60" name="Rectangle 2"/>
          <p:cNvGrpSpPr/>
          <p:nvPr/>
        </p:nvGrpSpPr>
        <p:grpSpPr>
          <a:xfrm>
            <a:off x="0" y="-4"/>
            <a:ext cx="4114800" cy="731525"/>
            <a:chOff x="0" y="-2"/>
            <a:chExt cx="4114800" cy="731524"/>
          </a:xfrm>
        </p:grpSpPr>
        <p:sp>
          <p:nvSpPr>
            <p:cNvPr id="158" name="Rectangle"/>
            <p:cNvSpPr/>
            <p:nvPr/>
          </p:nvSpPr>
          <p:spPr>
            <a:xfrm>
              <a:off x="0" y="-3"/>
              <a:ext cx="4114800" cy="731525"/>
            </a:xfrm>
            <a:prstGeom prst="rect">
              <a:avLst/>
            </a:prstGeom>
            <a:solidFill>
              <a:srgbClr val="5A9E37"/>
            </a:solidFill>
            <a:ln w="9525" cap="flat">
              <a:solidFill>
                <a:srgbClr val="5A9E3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9" name="SYSTEM ALGORITHM"/>
            <p:cNvSpPr txBox="1"/>
            <p:nvPr/>
          </p:nvSpPr>
          <p:spPr>
            <a:xfrm>
              <a:off x="233361" y="241388"/>
              <a:ext cx="3830958" cy="340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2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SYSTEM ALGORITHM</a:t>
              </a:r>
            </a:p>
          </p:txBody>
        </p:sp>
      </p:grpSp>
      <p:sp>
        <p:nvSpPr>
          <p:cNvPr id="161" name="TextBox 3"/>
          <p:cNvSpPr txBox="1"/>
          <p:nvPr/>
        </p:nvSpPr>
        <p:spPr>
          <a:xfrm>
            <a:off x="9646918" y="182879"/>
            <a:ext cx="1110428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400">
                <a:solidFill>
                  <a:srgbClr val="1E5FA5"/>
                </a:solidFill>
              </a:defRPr>
            </a:lvl1pPr>
          </a:lstStyle>
          <a:p>
            <a:pPr/>
            <a:r>
              <a:t>SIGNALTRUST</a:t>
            </a:r>
          </a:p>
        </p:txBody>
      </p:sp>
      <p:grpSp>
        <p:nvGrpSpPr>
          <p:cNvPr id="164" name="Rectangle 4"/>
          <p:cNvGrpSpPr/>
          <p:nvPr/>
        </p:nvGrpSpPr>
        <p:grpSpPr>
          <a:xfrm>
            <a:off x="365758" y="914400"/>
            <a:ext cx="5029203" cy="5486400"/>
            <a:chOff x="0" y="0"/>
            <a:chExt cx="5029201" cy="5486400"/>
          </a:xfrm>
        </p:grpSpPr>
        <p:sp>
          <p:nvSpPr>
            <p:cNvPr id="162" name="Rectangle"/>
            <p:cNvSpPr/>
            <p:nvPr/>
          </p:nvSpPr>
          <p:spPr>
            <a:xfrm>
              <a:off x="-1" y="0"/>
              <a:ext cx="5029203" cy="5486400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b="1" sz="1400">
                  <a:solidFill>
                    <a:srgbClr val="1E293B"/>
                  </a:solidFill>
                </a:defRPr>
              </a:pPr>
            </a:p>
          </p:txBody>
        </p:sp>
        <p:sp>
          <p:nvSpPr>
            <p:cNvPr id="163" name="⚙️ ALGORITHM STEPS…"/>
            <p:cNvSpPr txBox="1"/>
            <p:nvPr/>
          </p:nvSpPr>
          <p:spPr>
            <a:xfrm>
              <a:off x="96202" y="475462"/>
              <a:ext cx="4836798" cy="45354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82879" tIns="182879" rIns="182879" bIns="182879" numCol="1" anchor="ctr">
              <a:spAutoFit/>
            </a:bodyPr>
            <a:lstStyle/>
            <a:p>
              <a:pPr algn="ctr">
                <a:spcBef>
                  <a:spcPts val="1800"/>
                </a:spcBef>
                <a:defRPr b="1" sz="2000">
                  <a:solidFill>
                    <a:srgbClr val="1E5FA5"/>
                  </a:solidFill>
                  <a:latin typeface="+mj-lt"/>
                  <a:ea typeface="+mj-ea"/>
                  <a:cs typeface="+mj-cs"/>
                  <a:sym typeface="Helvetica"/>
                </a:defRPr>
              </a:pPr>
              <a:r>
                <a:t>⚙️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ALGORITHM STEPS</a:t>
              </a:r>
              <a:endParaRPr>
                <a:latin typeface="+mn-lt"/>
                <a:ea typeface="+mn-ea"/>
                <a:cs typeface="+mn-cs"/>
                <a:sym typeface="Calibri"/>
              </a:endParaRPr>
            </a:p>
            <a:p>
              <a:pPr>
                <a:spcBef>
                  <a:spcPts val="2200"/>
                </a:spcBef>
                <a:defRPr b="1" sz="1400">
                  <a:solidFill>
                    <a:srgbClr val="1E293B"/>
                  </a:solidFill>
                </a:defRPr>
              </a:pPr>
              <a:r>
                <a:t>• DETECTION: TelecomManager detects incoming call event.</a:t>
              </a:r>
            </a:p>
            <a:p>
              <a:pPr>
                <a:spcBef>
                  <a:spcPts val="2200"/>
                </a:spcBef>
                <a:defRPr b="1" sz="1400">
                  <a:solidFill>
                    <a:srgbClr val="1E293B"/>
                  </a:solidFill>
                </a:defRPr>
              </a:pPr>
              <a:r>
                <a:t>• PRIVACY: Hash raw number using SHA-256 algorithm.</a:t>
              </a:r>
            </a:p>
            <a:p>
              <a:pPr>
                <a:spcBef>
                  <a:spcPts val="2200"/>
                </a:spcBef>
                <a:defRPr b="1" sz="1400">
                  <a:solidFill>
                    <a:srgbClr val="1E293B"/>
                  </a:solidFill>
                </a:defRPr>
              </a:pPr>
              <a:r>
                <a:t>• FEATURE VECTOR: Extract calls/hr, duration, spam reports.</a:t>
              </a:r>
            </a:p>
            <a:p>
              <a:pPr>
                <a:spcBef>
                  <a:spcPts val="2200"/>
                </a:spcBef>
                <a:defRPr b="1" sz="1400">
                  <a:solidFill>
                    <a:srgbClr val="1E293B"/>
                  </a:solidFill>
                </a:defRPr>
              </a:pPr>
              <a:r>
                <a:t>• ML ENGINE: XGBoost computes threat probability score.</a:t>
              </a:r>
            </a:p>
            <a:p>
              <a:pPr>
                <a:spcBef>
                  <a:spcPts val="2200"/>
                </a:spcBef>
                <a:defRPr b="1" sz="1400">
                  <a:solidFill>
                    <a:srgbClr val="1E293B"/>
                  </a:solidFill>
                </a:defRPr>
              </a:pPr>
              <a:r>
                <a:t>• GRAPH CHECK: Evaluates contact_degree mutual overlap.</a:t>
              </a:r>
            </a:p>
            <a:p>
              <a:pPr>
                <a:spcBef>
                  <a:spcPts val="2200"/>
                </a:spcBef>
                <a:defRPr b="1" sz="1400">
                  <a:solidFill>
                    <a:srgbClr val="1E293B"/>
                  </a:solidFill>
                </a:defRPr>
              </a:pPr>
              <a:r>
                <a:t>• THRESHOLDING: Risk &gt;= 0.70 flags threat (High Precision).</a:t>
              </a:r>
            </a:p>
            <a:p>
              <a:pPr>
                <a:spcBef>
                  <a:spcPts val="2200"/>
                </a:spcBef>
                <a:defRPr b="1" sz="1400">
                  <a:solidFill>
                    <a:srgbClr val="1E293B"/>
                  </a:solidFill>
                </a:defRPr>
              </a:pPr>
              <a:r>
                <a:t>• OUTPUT: Real-time UI warning banner overlay on phone.</a:t>
              </a:r>
            </a:p>
            <a:p>
              <a:pPr>
                <a:defRPr b="1" sz="1400">
                  <a:solidFill>
                    <a:srgbClr val="1E293B"/>
                  </a:solidFill>
                </a:defRPr>
              </a:pPr>
              <a:r>
                <a:t>• FAST RESPONSE: Sub-200ms total end-to-end execution.</a:t>
              </a:r>
            </a:p>
          </p:txBody>
        </p:sp>
      </p:grpSp>
      <p:grpSp>
        <p:nvGrpSpPr>
          <p:cNvPr id="167" name="Rounded Rectangle 5"/>
          <p:cNvGrpSpPr/>
          <p:nvPr/>
        </p:nvGrpSpPr>
        <p:grpSpPr>
          <a:xfrm>
            <a:off x="5669279" y="914400"/>
            <a:ext cx="6126483" cy="5486400"/>
            <a:chOff x="0" y="0"/>
            <a:chExt cx="6126482" cy="5486400"/>
          </a:xfrm>
        </p:grpSpPr>
        <p:sp>
          <p:nvSpPr>
            <p:cNvPr id="165" name="Rounded Rectangle"/>
            <p:cNvSpPr/>
            <p:nvPr/>
          </p:nvSpPr>
          <p:spPr>
            <a:xfrm>
              <a:off x="-1" y="0"/>
              <a:ext cx="6126484" cy="5486400"/>
            </a:xfrm>
            <a:prstGeom prst="roundRect">
              <a:avLst>
                <a:gd name="adj" fmla="val 16667"/>
              </a:avLst>
            </a:prstGeom>
            <a:solidFill>
              <a:srgbClr val="1E5FA5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800"/>
                </a:spcBef>
                <a:defRPr sz="1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6" name="SYSTEM CONTROL FLOW DIAGRAM…"/>
            <p:cNvSpPr txBox="1"/>
            <p:nvPr/>
          </p:nvSpPr>
          <p:spPr>
            <a:xfrm>
              <a:off x="501186" y="1368098"/>
              <a:ext cx="5306991" cy="29788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1500"/>
                </a:spcBef>
                <a:defRPr b="1">
                  <a:solidFill>
                    <a:srgbClr val="FEF08A"/>
                  </a:solidFill>
                </a:defRPr>
              </a:pPr>
              <a:r>
                <a:t>SYSTEM CONTROL FLOW DIAGRAM</a:t>
              </a:r>
            </a:p>
            <a:p>
              <a:pPr>
                <a:spcBef>
                  <a:spcPts val="800"/>
                </a:spcBef>
                <a:defRPr sz="1200">
                  <a:solidFill>
                    <a:srgbClr val="FFFFFF"/>
                  </a:solidFill>
                </a:defRPr>
              </a:pPr>
              <a:r>
                <a:t>[Step 1] Start System -&gt; Initialize TelecomManager &amp; Model</a:t>
              </a:r>
            </a:p>
            <a:p>
              <a:pPr>
                <a:spcBef>
                  <a:spcPts val="800"/>
                </a:spcBef>
                <a:defRPr sz="1200">
                  <a:solidFill>
                    <a:srgbClr val="FFFFFF"/>
                  </a:solidFill>
                </a:defRPr>
              </a:pPr>
              <a:r>
                <a:t>[Step 2] Incoming Call Received -&gt; Extract Caller ID</a:t>
              </a:r>
            </a:p>
            <a:p>
              <a:pPr>
                <a:spcBef>
                  <a:spcPts val="800"/>
                </a:spcBef>
                <a:defRPr sz="1200">
                  <a:solidFill>
                    <a:srgbClr val="FFFFFF"/>
                  </a:solidFill>
                </a:defRPr>
              </a:pPr>
              <a:r>
                <a:t>[Step 3] SHA-256 Anonymization -&gt; Hash Phone Number</a:t>
              </a:r>
            </a:p>
            <a:p>
              <a:pPr>
                <a:spcBef>
                  <a:spcPts val="800"/>
                </a:spcBef>
                <a:defRPr sz="1200">
                  <a:solidFill>
                    <a:srgbClr val="FFFFFF"/>
                  </a:solidFill>
                </a:defRPr>
              </a:pPr>
              <a:r>
                <a:t>[Step 4] Query Feature Store &amp; Graph -&gt; Fetch Metadata</a:t>
              </a:r>
            </a:p>
            <a:p>
              <a:pPr>
                <a:spcBef>
                  <a:spcPts val="800"/>
                </a:spcBef>
                <a:defRPr sz="1200">
                  <a:solidFill>
                    <a:srgbClr val="FFFFFF"/>
                  </a:solidFill>
                </a:defRPr>
              </a:pPr>
              <a:r>
                <a:t>[Step 5] Run XGBoost Model Inference -&gt; Calculate Risk P</a:t>
              </a:r>
            </a:p>
            <a:p>
              <a:pPr>
                <a:spcBef>
                  <a:spcPts val="800"/>
                </a:spcBef>
                <a:defRPr sz="1200">
                  <a:solidFill>
                    <a:srgbClr val="FFFFFF"/>
                  </a:solidFill>
                </a:defRPr>
              </a:pPr>
              <a:r>
                <a:t>[Step 6] Decision Check: Is Risk P &gt;= 0.70?</a:t>
              </a:r>
            </a:p>
            <a:p>
              <a:pPr>
                <a:spcBef>
                  <a:spcPts val="800"/>
                </a:spcBef>
                <a:defRPr sz="1200">
                  <a:solidFill>
                    <a:srgbClr val="FFFFFF"/>
                  </a:solidFill>
                </a:defRPr>
              </a:pPr>
              <a:r>
                <a:t>         --&gt; YES: Trigger High Threat Warning Banner &amp; Silence</a:t>
              </a:r>
            </a:p>
            <a:p>
              <a:pPr>
                <a:spcBef>
                  <a:spcPts val="800"/>
                </a:spcBef>
                <a:defRPr sz="1200">
                  <a:solidFill>
                    <a:srgbClr val="FFFFFF"/>
                  </a:solidFill>
                </a:defRPr>
              </a:pPr>
              <a:r>
                <a:t>         --&gt; NO : Allow Call &amp; Show Trust Indicator</a:t>
              </a:r>
            </a:p>
            <a:p>
              <a:pPr>
                <a:spcBef>
                  <a:spcPts val="800"/>
                </a:spcBef>
                <a:defRPr sz="1200">
                  <a:solidFill>
                    <a:srgbClr val="FFFFFF"/>
                  </a:solidFill>
                </a:defRPr>
              </a:pPr>
              <a:r>
                <a:t>[Step 7] Log Telemetry &amp; Return to Ready State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72" name="Rectangle 2"/>
          <p:cNvGrpSpPr/>
          <p:nvPr/>
        </p:nvGrpSpPr>
        <p:grpSpPr>
          <a:xfrm>
            <a:off x="0" y="-4"/>
            <a:ext cx="4114800" cy="731525"/>
            <a:chOff x="0" y="-2"/>
            <a:chExt cx="4114800" cy="731524"/>
          </a:xfrm>
        </p:grpSpPr>
        <p:sp>
          <p:nvSpPr>
            <p:cNvPr id="170" name="Rectangle"/>
            <p:cNvSpPr/>
            <p:nvPr/>
          </p:nvSpPr>
          <p:spPr>
            <a:xfrm>
              <a:off x="0" y="-3"/>
              <a:ext cx="4114800" cy="731525"/>
            </a:xfrm>
            <a:prstGeom prst="rect">
              <a:avLst/>
            </a:prstGeom>
            <a:solidFill>
              <a:srgbClr val="5A9E37"/>
            </a:solidFill>
            <a:ln w="9525" cap="flat">
              <a:solidFill>
                <a:srgbClr val="5A9E3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1" name="TECHNOLOGIES USED"/>
            <p:cNvSpPr txBox="1"/>
            <p:nvPr/>
          </p:nvSpPr>
          <p:spPr>
            <a:xfrm>
              <a:off x="233361" y="241388"/>
              <a:ext cx="3830958" cy="340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2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TECHNOLOGIES USED</a:t>
              </a:r>
            </a:p>
          </p:txBody>
        </p:sp>
      </p:grpSp>
      <p:sp>
        <p:nvSpPr>
          <p:cNvPr id="173" name="TextBox 3"/>
          <p:cNvSpPr txBox="1"/>
          <p:nvPr/>
        </p:nvSpPr>
        <p:spPr>
          <a:xfrm>
            <a:off x="9646918" y="182879"/>
            <a:ext cx="1110428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400">
                <a:solidFill>
                  <a:srgbClr val="1E5FA5"/>
                </a:solidFill>
              </a:defRPr>
            </a:lvl1pPr>
          </a:lstStyle>
          <a:p>
            <a:pPr/>
            <a:r>
              <a:t>SIGNALTRUST</a:t>
            </a:r>
          </a:p>
        </p:txBody>
      </p:sp>
      <p:grpSp>
        <p:nvGrpSpPr>
          <p:cNvPr id="176" name="Rounded Rectangle 4"/>
          <p:cNvGrpSpPr/>
          <p:nvPr/>
        </p:nvGrpSpPr>
        <p:grpSpPr>
          <a:xfrm>
            <a:off x="365758" y="914400"/>
            <a:ext cx="5486403" cy="5486400"/>
            <a:chOff x="0" y="0"/>
            <a:chExt cx="5486401" cy="5486400"/>
          </a:xfrm>
        </p:grpSpPr>
        <p:sp>
          <p:nvSpPr>
            <p:cNvPr id="174" name="Rounded Rectangle"/>
            <p:cNvSpPr/>
            <p:nvPr/>
          </p:nvSpPr>
          <p:spPr>
            <a:xfrm>
              <a:off x="0" y="0"/>
              <a:ext cx="5486402" cy="5486400"/>
            </a:xfrm>
            <a:prstGeom prst="roundRect">
              <a:avLst>
                <a:gd name="adj" fmla="val 16667"/>
              </a:avLst>
            </a:prstGeom>
            <a:solidFill>
              <a:srgbClr val="1E5FA5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400"/>
                </a:spcBef>
                <a:defRPr sz="15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5" name="HARDWARE &amp; ML ENGINE…"/>
            <p:cNvSpPr txBox="1"/>
            <p:nvPr/>
          </p:nvSpPr>
          <p:spPr>
            <a:xfrm>
              <a:off x="501186" y="1054802"/>
              <a:ext cx="4666910" cy="36053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2600"/>
                </a:spcBef>
                <a:defRPr b="1" sz="2200">
                  <a:solidFill>
                    <a:srgbClr val="FEF08A"/>
                  </a:solidFill>
                </a:defRPr>
              </a:pPr>
              <a:r>
                <a:t>HARDWARE &amp; ML ENGINE</a:t>
              </a:r>
            </a:p>
            <a:p>
              <a:pPr>
                <a:spcBef>
                  <a:spcPts val="2400"/>
                </a:spcBef>
                <a:defRPr sz="1500">
                  <a:solidFill>
                    <a:srgbClr val="FFFFFF"/>
                  </a:solidFill>
                </a:defRPr>
              </a:pPr>
              <a:r>
                <a:t>• PYTHON 3.13 – Core ML &amp; Server Runtime</a:t>
              </a:r>
            </a:p>
            <a:p>
              <a:pPr>
                <a:spcBef>
                  <a:spcPts val="2400"/>
                </a:spcBef>
                <a:defRPr sz="1500">
                  <a:solidFill>
                    <a:srgbClr val="FFFFFF"/>
                  </a:solidFill>
                </a:defRPr>
              </a:pPr>
              <a:r>
                <a:t>• XGBOOST – Gradient Boosted Decision Trees</a:t>
              </a:r>
            </a:p>
            <a:p>
              <a:pPr>
                <a:spcBef>
                  <a:spcPts val="2400"/>
                </a:spcBef>
                <a:defRPr sz="1500">
                  <a:solidFill>
                    <a:srgbClr val="FFFFFF"/>
                  </a:solidFill>
                </a:defRPr>
              </a:pPr>
              <a:r>
                <a:t>• SCIKIT-LEARN – Evaluation Metrics &amp; Pipelines</a:t>
              </a:r>
            </a:p>
            <a:p>
              <a:pPr>
                <a:spcBef>
                  <a:spcPts val="2400"/>
                </a:spcBef>
                <a:defRPr sz="1500">
                  <a:solidFill>
                    <a:srgbClr val="FFFFFF"/>
                  </a:solidFill>
                </a:defRPr>
              </a:pPr>
              <a:r>
                <a:t>• PANDAS &amp; NUMPY – Telemetry Data Processing</a:t>
              </a:r>
            </a:p>
            <a:p>
              <a:pPr>
                <a:spcBef>
                  <a:spcPts val="2400"/>
                </a:spcBef>
                <a:defRPr sz="1500">
                  <a:solidFill>
                    <a:srgbClr val="FFFFFF"/>
                  </a:solidFill>
                </a:defRPr>
              </a:pPr>
              <a:r>
                <a:t>• JOBLIB – Model Pipeline Serialization</a:t>
              </a:r>
            </a:p>
            <a:p>
              <a:pPr>
                <a:spcBef>
                  <a:spcPts val="2400"/>
                </a:spcBef>
                <a:defRPr sz="1500">
                  <a:solidFill>
                    <a:srgbClr val="FFFFFF"/>
                  </a:solidFill>
                </a:defRPr>
              </a:pPr>
              <a:r>
                <a:t>• SHA-256 ENCRYPTION – Anonymized Hashing</a:t>
              </a:r>
            </a:p>
          </p:txBody>
        </p:sp>
      </p:grpSp>
      <p:grpSp>
        <p:nvGrpSpPr>
          <p:cNvPr id="179" name="Rounded Rectangle 5"/>
          <p:cNvGrpSpPr/>
          <p:nvPr/>
        </p:nvGrpSpPr>
        <p:grpSpPr>
          <a:xfrm>
            <a:off x="6217919" y="914400"/>
            <a:ext cx="5577844" cy="5486400"/>
            <a:chOff x="0" y="0"/>
            <a:chExt cx="5577842" cy="5486400"/>
          </a:xfrm>
        </p:grpSpPr>
        <p:sp>
          <p:nvSpPr>
            <p:cNvPr id="177" name="Rounded Rectangle"/>
            <p:cNvSpPr/>
            <p:nvPr/>
          </p:nvSpPr>
          <p:spPr>
            <a:xfrm>
              <a:off x="-1" y="0"/>
              <a:ext cx="5577844" cy="5486400"/>
            </a:xfrm>
            <a:prstGeom prst="roundRect">
              <a:avLst>
                <a:gd name="adj" fmla="val 16667"/>
              </a:avLst>
            </a:prstGeom>
            <a:solidFill>
              <a:srgbClr val="5A9E37"/>
            </a:solidFill>
            <a:ln w="9525" cap="flat">
              <a:solidFill>
                <a:srgbClr val="5A9E3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spcBef>
                  <a:spcPts val="2400"/>
                </a:spcBef>
                <a:defRPr sz="15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8" name="SOFTWARE &amp; BACKEND API…"/>
            <p:cNvSpPr txBox="1"/>
            <p:nvPr/>
          </p:nvSpPr>
          <p:spPr>
            <a:xfrm>
              <a:off x="501185" y="1054802"/>
              <a:ext cx="4758350" cy="36053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2600"/>
                </a:spcBef>
                <a:defRPr b="1" sz="2200">
                  <a:solidFill>
                    <a:srgbClr val="FFFFFF"/>
                  </a:solidFill>
                </a:defRPr>
              </a:pPr>
              <a:r>
                <a:t>SOFTWARE &amp; BACKEND API</a:t>
              </a:r>
            </a:p>
            <a:p>
              <a:pPr>
                <a:spcBef>
                  <a:spcPts val="2400"/>
                </a:spcBef>
                <a:defRPr sz="1500">
                  <a:solidFill>
                    <a:srgbClr val="FFFFFF"/>
                  </a:solidFill>
                </a:defRPr>
              </a:pPr>
              <a:r>
                <a:t>• FASTAPI – High-Speed Async REST Framework</a:t>
              </a:r>
            </a:p>
            <a:p>
              <a:pPr>
                <a:spcBef>
                  <a:spcPts val="2400"/>
                </a:spcBef>
                <a:defRPr sz="1500">
                  <a:solidFill>
                    <a:srgbClr val="FFFFFF"/>
                  </a:solidFill>
                </a:defRPr>
              </a:pPr>
              <a:r>
                <a:t>• UVICORN – High Performance ASGI Server</a:t>
              </a:r>
            </a:p>
            <a:p>
              <a:pPr>
                <a:spcBef>
                  <a:spcPts val="2400"/>
                </a:spcBef>
                <a:defRPr sz="1500">
                  <a:solidFill>
                    <a:srgbClr val="FFFFFF"/>
                  </a:solidFill>
                </a:defRPr>
              </a:pPr>
              <a:r>
                <a:t>• PYDANTIC V2 – Strict Payload Schema Validation</a:t>
              </a:r>
            </a:p>
            <a:p>
              <a:pPr>
                <a:spcBef>
                  <a:spcPts val="2400"/>
                </a:spcBef>
                <a:defRPr sz="1500">
                  <a:solidFill>
                    <a:srgbClr val="FFFFFF"/>
                  </a:solidFill>
                </a:defRPr>
              </a:pPr>
              <a:r>
                <a:t>• PYTEST &amp; HTTPX – Automated Integration Testing</a:t>
              </a:r>
            </a:p>
            <a:p>
              <a:pPr>
                <a:spcBef>
                  <a:spcPts val="2400"/>
                </a:spcBef>
                <a:defRPr sz="1500">
                  <a:solidFill>
                    <a:srgbClr val="FFFFFF"/>
                  </a:solidFill>
                </a:defRPr>
              </a:pPr>
              <a:r>
                <a:t>• ANDROID TELECOMMANAGER – Native Phone Hooks</a:t>
              </a:r>
            </a:p>
            <a:p>
              <a:pPr>
                <a:spcBef>
                  <a:spcPts val="2400"/>
                </a:spcBef>
                <a:defRPr sz="1500">
                  <a:solidFill>
                    <a:srgbClr val="FFFFFF"/>
                  </a:solidFill>
                </a:defRPr>
              </a:pPr>
              <a:r>
                <a:t>• NETWORKX / NEO4J – Social Contact Graph Engine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84" name="Rectangle 2"/>
          <p:cNvGrpSpPr/>
          <p:nvPr/>
        </p:nvGrpSpPr>
        <p:grpSpPr>
          <a:xfrm>
            <a:off x="0" y="-4"/>
            <a:ext cx="4114800" cy="731525"/>
            <a:chOff x="0" y="-2"/>
            <a:chExt cx="4114800" cy="731524"/>
          </a:xfrm>
        </p:grpSpPr>
        <p:sp>
          <p:nvSpPr>
            <p:cNvPr id="182" name="Rectangle"/>
            <p:cNvSpPr/>
            <p:nvPr/>
          </p:nvSpPr>
          <p:spPr>
            <a:xfrm>
              <a:off x="0" y="-3"/>
              <a:ext cx="4114800" cy="731525"/>
            </a:xfrm>
            <a:prstGeom prst="rect">
              <a:avLst/>
            </a:prstGeom>
            <a:solidFill>
              <a:srgbClr val="5A9E37"/>
            </a:solidFill>
            <a:ln w="9525" cap="flat">
              <a:solidFill>
                <a:srgbClr val="5A9E3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3" name="INNOVATION"/>
            <p:cNvSpPr txBox="1"/>
            <p:nvPr/>
          </p:nvSpPr>
          <p:spPr>
            <a:xfrm>
              <a:off x="233361" y="241388"/>
              <a:ext cx="3830958" cy="340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2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INNOVATION</a:t>
              </a:r>
            </a:p>
          </p:txBody>
        </p:sp>
      </p:grpSp>
      <p:sp>
        <p:nvSpPr>
          <p:cNvPr id="185" name="TextBox 3"/>
          <p:cNvSpPr txBox="1"/>
          <p:nvPr/>
        </p:nvSpPr>
        <p:spPr>
          <a:xfrm>
            <a:off x="9646918" y="182879"/>
            <a:ext cx="1110428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400">
                <a:solidFill>
                  <a:srgbClr val="1E5FA5"/>
                </a:solidFill>
              </a:defRPr>
            </a:lvl1pPr>
          </a:lstStyle>
          <a:p>
            <a:pPr/>
            <a:r>
              <a:t>SIGNALTRUST</a:t>
            </a:r>
          </a:p>
        </p:txBody>
      </p:sp>
      <p:grpSp>
        <p:nvGrpSpPr>
          <p:cNvPr id="188" name="Card 1"/>
          <p:cNvGrpSpPr/>
          <p:nvPr/>
        </p:nvGrpSpPr>
        <p:grpSpPr>
          <a:xfrm>
            <a:off x="609599" y="1200000"/>
            <a:ext cx="3474622" cy="2350001"/>
            <a:chOff x="0" y="0"/>
            <a:chExt cx="3474620" cy="2350000"/>
          </a:xfrm>
        </p:grpSpPr>
        <p:sp>
          <p:nvSpPr>
            <p:cNvPr id="186" name="Rounded Rectangle"/>
            <p:cNvSpPr/>
            <p:nvPr/>
          </p:nvSpPr>
          <p:spPr>
            <a:xfrm>
              <a:off x="-1" y="0"/>
              <a:ext cx="3474622" cy="2350001"/>
            </a:xfrm>
            <a:prstGeom prst="roundRect">
              <a:avLst>
                <a:gd name="adj" fmla="val 16667"/>
              </a:avLst>
            </a:prstGeom>
            <a:solidFill>
              <a:srgbClr val="EC4899"/>
            </a:solidFill>
            <a:ln w="9525" cap="flat">
              <a:solidFill>
                <a:srgbClr val="EC489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spcBef>
                  <a:spcPts val="6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7" name="AFFORDABLE…"/>
            <p:cNvSpPr txBox="1"/>
            <p:nvPr/>
          </p:nvSpPr>
          <p:spPr>
            <a:xfrm>
              <a:off x="165199" y="119480"/>
              <a:ext cx="3144221" cy="2111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82879" tIns="182879" rIns="182879" bIns="182879" numCol="1" anchor="ctr">
              <a:normAutofit fontScale="100000" lnSpcReduction="0"/>
            </a:bodyPr>
            <a:lstStyle/>
            <a:p>
              <a:pPr algn="ctr">
                <a:defRPr b="1" sz="1600">
                  <a:solidFill>
                    <a:srgbClr val="FFFFFF"/>
                  </a:solidFill>
                </a:defRPr>
              </a:pPr>
              <a:r>
                <a:t>AFFORDABLE</a:t>
              </a:r>
            </a:p>
            <a:p>
              <a:pPr algn="ctr">
                <a:spcBef>
                  <a:spcPts val="600"/>
                </a:spcBef>
                <a:defRPr sz="1200">
                  <a:solidFill>
                    <a:srgbClr val="FFFFFF"/>
                  </a:solidFill>
                </a:defRPr>
              </a:pPr>
              <a:r>
                <a:t>Designed using accessible cloud REST APIs &amp; mobile SDKs.</a:t>
              </a:r>
            </a:p>
          </p:txBody>
        </p:sp>
      </p:grpSp>
      <p:grpSp>
        <p:nvGrpSpPr>
          <p:cNvPr id="191" name="Card 2"/>
          <p:cNvGrpSpPr/>
          <p:nvPr/>
        </p:nvGrpSpPr>
        <p:grpSpPr>
          <a:xfrm>
            <a:off x="4358536" y="1200000"/>
            <a:ext cx="3474622" cy="2350001"/>
            <a:chOff x="0" y="0"/>
            <a:chExt cx="3474620" cy="2350000"/>
          </a:xfrm>
        </p:grpSpPr>
        <p:sp>
          <p:nvSpPr>
            <p:cNvPr id="189" name="Rounded Rectangle"/>
            <p:cNvSpPr/>
            <p:nvPr/>
          </p:nvSpPr>
          <p:spPr>
            <a:xfrm>
              <a:off x="-1" y="0"/>
              <a:ext cx="3474622" cy="2350001"/>
            </a:xfrm>
            <a:prstGeom prst="roundRect">
              <a:avLst>
                <a:gd name="adj" fmla="val 16667"/>
              </a:avLst>
            </a:prstGeom>
            <a:solidFill>
              <a:srgbClr val="6366F1"/>
            </a:solidFill>
            <a:ln w="9525" cap="flat">
              <a:solidFill>
                <a:srgbClr val="6366F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spcBef>
                  <a:spcPts val="6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0" name="INTEGRATED…"/>
            <p:cNvSpPr txBox="1"/>
            <p:nvPr/>
          </p:nvSpPr>
          <p:spPr>
            <a:xfrm>
              <a:off x="165199" y="119480"/>
              <a:ext cx="3144221" cy="2111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82879" tIns="182879" rIns="182879" bIns="182879" numCol="1" anchor="ctr">
              <a:normAutofit fontScale="100000" lnSpcReduction="0"/>
            </a:bodyPr>
            <a:lstStyle/>
            <a:p>
              <a:pPr algn="ctr">
                <a:defRPr b="1" sz="1600">
                  <a:solidFill>
                    <a:srgbClr val="FFFFFF"/>
                  </a:solidFill>
                </a:defRPr>
              </a:pPr>
              <a:r>
                <a:t>INTEGRATED</a:t>
              </a:r>
            </a:p>
            <a:p>
              <a:pPr algn="ctr">
                <a:spcBef>
                  <a:spcPts val="600"/>
                </a:spcBef>
                <a:defRPr sz="1200">
                  <a:solidFill>
                    <a:srgbClr val="FFFFFF"/>
                  </a:solidFill>
                </a:defRPr>
              </a:pPr>
              <a:r>
                <a:t>Combines ML sensing, SHA-256 hashing &amp; contact graphs.</a:t>
              </a:r>
            </a:p>
          </p:txBody>
        </p:sp>
      </p:grpSp>
      <p:grpSp>
        <p:nvGrpSpPr>
          <p:cNvPr id="194" name="Card 3"/>
          <p:cNvGrpSpPr/>
          <p:nvPr/>
        </p:nvGrpSpPr>
        <p:grpSpPr>
          <a:xfrm>
            <a:off x="8107474" y="1200000"/>
            <a:ext cx="3474621" cy="2350001"/>
            <a:chOff x="0" y="0"/>
            <a:chExt cx="3474620" cy="2350000"/>
          </a:xfrm>
        </p:grpSpPr>
        <p:sp>
          <p:nvSpPr>
            <p:cNvPr id="192" name="Rounded Rectangle"/>
            <p:cNvSpPr/>
            <p:nvPr/>
          </p:nvSpPr>
          <p:spPr>
            <a:xfrm>
              <a:off x="-1" y="0"/>
              <a:ext cx="3474622" cy="2350001"/>
            </a:xfrm>
            <a:prstGeom prst="roundRect">
              <a:avLst>
                <a:gd name="adj" fmla="val 16667"/>
              </a:avLst>
            </a:prstGeom>
            <a:solidFill>
              <a:srgbClr val="84CC16"/>
            </a:solidFill>
            <a:ln w="9525" cap="flat">
              <a:solidFill>
                <a:srgbClr val="84CC16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spcBef>
                  <a:spcPts val="6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3" name="PORTABLE…"/>
            <p:cNvSpPr txBox="1"/>
            <p:nvPr/>
          </p:nvSpPr>
          <p:spPr>
            <a:xfrm>
              <a:off x="165199" y="119480"/>
              <a:ext cx="3144221" cy="2111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82879" tIns="182879" rIns="182879" bIns="182879" numCol="1" anchor="ctr">
              <a:normAutofit fontScale="100000" lnSpcReduction="0"/>
            </a:bodyPr>
            <a:lstStyle/>
            <a:p>
              <a:pPr algn="ctr">
                <a:defRPr b="1" sz="1600">
                  <a:solidFill>
                    <a:srgbClr val="FFFFFF"/>
                  </a:solidFill>
                </a:defRPr>
              </a:pPr>
              <a:r>
                <a:t>PORTABLE</a:t>
              </a:r>
            </a:p>
            <a:p>
              <a:pPr algn="ctr">
                <a:spcBef>
                  <a:spcPts val="600"/>
                </a:spcBef>
                <a:defRPr sz="1200">
                  <a:solidFill>
                    <a:srgbClr val="FFFFFF"/>
                  </a:solidFill>
                </a:defRPr>
              </a:pPr>
              <a:r>
                <a:t>Can be installed on any Android/Flutter mobile setup.</a:t>
              </a:r>
            </a:p>
          </p:txBody>
        </p:sp>
      </p:grpSp>
      <p:grpSp>
        <p:nvGrpSpPr>
          <p:cNvPr id="197" name="Card 4"/>
          <p:cNvGrpSpPr/>
          <p:nvPr/>
        </p:nvGrpSpPr>
        <p:grpSpPr>
          <a:xfrm>
            <a:off x="609599" y="3869999"/>
            <a:ext cx="3474622" cy="2350002"/>
            <a:chOff x="0" y="0"/>
            <a:chExt cx="3474620" cy="2350001"/>
          </a:xfrm>
        </p:grpSpPr>
        <p:sp>
          <p:nvSpPr>
            <p:cNvPr id="195" name="Rounded Rectangle"/>
            <p:cNvSpPr/>
            <p:nvPr/>
          </p:nvSpPr>
          <p:spPr>
            <a:xfrm>
              <a:off x="-1" y="0"/>
              <a:ext cx="3474622" cy="2350002"/>
            </a:xfrm>
            <a:prstGeom prst="roundRect">
              <a:avLst>
                <a:gd name="adj" fmla="val 16667"/>
              </a:avLst>
            </a:prstGeom>
            <a:solidFill>
              <a:srgbClr val="A855F7"/>
            </a:solidFill>
            <a:ln w="9525" cap="flat">
              <a:solidFill>
                <a:srgbClr val="A855F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spcBef>
                  <a:spcPts val="6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6" name="REAL-TIME…"/>
            <p:cNvSpPr txBox="1"/>
            <p:nvPr/>
          </p:nvSpPr>
          <p:spPr>
            <a:xfrm>
              <a:off x="165199" y="119480"/>
              <a:ext cx="3144221" cy="21110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82879" tIns="182879" rIns="182879" bIns="182879" numCol="1" anchor="ctr">
              <a:normAutofit fontScale="100000" lnSpcReduction="0"/>
            </a:bodyPr>
            <a:lstStyle/>
            <a:p>
              <a:pPr algn="ctr">
                <a:defRPr b="1" sz="1600">
                  <a:solidFill>
                    <a:srgbClr val="FFFFFF"/>
                  </a:solidFill>
                </a:defRPr>
              </a:pPr>
              <a:r>
                <a:t>REAL-TIME</a:t>
              </a:r>
            </a:p>
            <a:p>
              <a:pPr algn="ctr">
                <a:spcBef>
                  <a:spcPts val="600"/>
                </a:spcBef>
                <a:defRPr sz="1200">
                  <a:solidFill>
                    <a:srgbClr val="FFFFFF"/>
                  </a:solidFill>
                </a:defRPr>
              </a:pPr>
              <a:r>
                <a:t>Sub-200ms inference for immediate call intervention.</a:t>
              </a:r>
            </a:p>
          </p:txBody>
        </p:sp>
      </p:grpSp>
      <p:grpSp>
        <p:nvGrpSpPr>
          <p:cNvPr id="200" name="Card 5"/>
          <p:cNvGrpSpPr/>
          <p:nvPr/>
        </p:nvGrpSpPr>
        <p:grpSpPr>
          <a:xfrm>
            <a:off x="4358536" y="3869999"/>
            <a:ext cx="3474622" cy="2350002"/>
            <a:chOff x="0" y="0"/>
            <a:chExt cx="3474620" cy="2350001"/>
          </a:xfrm>
        </p:grpSpPr>
        <p:sp>
          <p:nvSpPr>
            <p:cNvPr id="198" name="Rounded Rectangle"/>
            <p:cNvSpPr/>
            <p:nvPr/>
          </p:nvSpPr>
          <p:spPr>
            <a:xfrm>
              <a:off x="-1" y="0"/>
              <a:ext cx="3474622" cy="2350002"/>
            </a:xfrm>
            <a:prstGeom prst="roundRect">
              <a:avLst>
                <a:gd name="adj" fmla="val 16667"/>
              </a:avLst>
            </a:prstGeom>
            <a:solidFill>
              <a:srgbClr val="EAB308"/>
            </a:solidFill>
            <a:ln w="9525" cap="flat">
              <a:solidFill>
                <a:srgbClr val="EAB30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spcBef>
                  <a:spcPts val="6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9" name="UPGRADEABLE…"/>
            <p:cNvSpPr txBox="1"/>
            <p:nvPr/>
          </p:nvSpPr>
          <p:spPr>
            <a:xfrm>
              <a:off x="165199" y="119480"/>
              <a:ext cx="3144221" cy="21110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82879" tIns="182879" rIns="182879" bIns="182879" numCol="1" anchor="ctr">
              <a:normAutofit fontScale="100000" lnSpcReduction="0"/>
            </a:bodyPr>
            <a:lstStyle/>
            <a:p>
              <a:pPr algn="ctr">
                <a:defRPr b="1" sz="1600">
                  <a:solidFill>
                    <a:srgbClr val="FFFFFF"/>
                  </a:solidFill>
                </a:defRPr>
              </a:pPr>
              <a:r>
                <a:t>UPGRADEABLE</a:t>
              </a:r>
            </a:p>
            <a:p>
              <a:pPr algn="ctr">
                <a:spcBef>
                  <a:spcPts val="600"/>
                </a:spcBef>
                <a:defRPr sz="1200">
                  <a:solidFill>
                    <a:srgbClr val="FFFFFF"/>
                  </a:solidFill>
                </a:defRPr>
              </a:pPr>
              <a:r>
                <a:t>Supports dynamic graph distance metrics &amp; ONNX compilation.</a:t>
              </a:r>
            </a:p>
          </p:txBody>
        </p:sp>
      </p:grpSp>
      <p:grpSp>
        <p:nvGrpSpPr>
          <p:cNvPr id="203" name="Card 6"/>
          <p:cNvGrpSpPr/>
          <p:nvPr/>
        </p:nvGrpSpPr>
        <p:grpSpPr>
          <a:xfrm>
            <a:off x="8107474" y="3869999"/>
            <a:ext cx="3474621" cy="2350002"/>
            <a:chOff x="0" y="0"/>
            <a:chExt cx="3474620" cy="2350001"/>
          </a:xfrm>
        </p:grpSpPr>
        <p:sp>
          <p:nvSpPr>
            <p:cNvPr id="201" name="Rounded Rectangle"/>
            <p:cNvSpPr/>
            <p:nvPr/>
          </p:nvSpPr>
          <p:spPr>
            <a:xfrm>
              <a:off x="-1" y="0"/>
              <a:ext cx="3474622" cy="2350002"/>
            </a:xfrm>
            <a:prstGeom prst="roundRect">
              <a:avLst>
                <a:gd name="adj" fmla="val 16667"/>
              </a:avLst>
            </a:prstGeom>
            <a:solidFill>
              <a:srgbClr val="F97316"/>
            </a:solidFill>
            <a:ln w="9525" cap="flat">
              <a:solidFill>
                <a:srgbClr val="F97316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spcBef>
                  <a:spcPts val="6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2" name="EVIDENCE-BASED…"/>
            <p:cNvSpPr txBox="1"/>
            <p:nvPr/>
          </p:nvSpPr>
          <p:spPr>
            <a:xfrm>
              <a:off x="165199" y="119480"/>
              <a:ext cx="3144221" cy="21110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82879" tIns="182879" rIns="182879" bIns="182879" numCol="1" anchor="ctr">
              <a:normAutofit fontScale="100000" lnSpcReduction="0"/>
            </a:bodyPr>
            <a:lstStyle/>
            <a:p>
              <a:pPr algn="ctr">
                <a:defRPr b="1" sz="1600">
                  <a:solidFill>
                    <a:srgbClr val="FFFFFF"/>
                  </a:solidFill>
                </a:defRPr>
              </a:pPr>
              <a:r>
                <a:t>EVIDENCE-BASED</a:t>
              </a:r>
            </a:p>
            <a:p>
              <a:pPr algn="ctr">
                <a:spcBef>
                  <a:spcPts val="600"/>
                </a:spcBef>
                <a:defRPr sz="1200">
                  <a:solidFill>
                    <a:srgbClr val="FFFFFF"/>
                  </a:solidFill>
                </a:defRPr>
              </a:pPr>
              <a:r>
                <a:t>Verified with 1.00 ROC-AUC &amp; 6/6 passing automated tests.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08" name="Rectangle 2"/>
          <p:cNvGrpSpPr/>
          <p:nvPr/>
        </p:nvGrpSpPr>
        <p:grpSpPr>
          <a:xfrm>
            <a:off x="0" y="-4"/>
            <a:ext cx="4114800" cy="731525"/>
            <a:chOff x="0" y="-2"/>
            <a:chExt cx="4114800" cy="731524"/>
          </a:xfrm>
        </p:grpSpPr>
        <p:sp>
          <p:nvSpPr>
            <p:cNvPr id="206" name="Rectangle"/>
            <p:cNvSpPr/>
            <p:nvPr/>
          </p:nvSpPr>
          <p:spPr>
            <a:xfrm>
              <a:off x="0" y="-3"/>
              <a:ext cx="4114800" cy="731525"/>
            </a:xfrm>
            <a:prstGeom prst="rect">
              <a:avLst/>
            </a:prstGeom>
            <a:solidFill>
              <a:srgbClr val="5A9E37"/>
            </a:solidFill>
            <a:ln w="9525" cap="flat">
              <a:solidFill>
                <a:srgbClr val="5A9E3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7" name="WHY WE'RE DIFFERENT"/>
            <p:cNvSpPr txBox="1"/>
            <p:nvPr/>
          </p:nvSpPr>
          <p:spPr>
            <a:xfrm>
              <a:off x="233361" y="241388"/>
              <a:ext cx="3830958" cy="340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2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WHY WE'RE DIFFERENT</a:t>
              </a:r>
            </a:p>
          </p:txBody>
        </p:sp>
      </p:grpSp>
      <p:sp>
        <p:nvSpPr>
          <p:cNvPr id="209" name="TextBox 3"/>
          <p:cNvSpPr txBox="1"/>
          <p:nvPr/>
        </p:nvSpPr>
        <p:spPr>
          <a:xfrm>
            <a:off x="9646918" y="182879"/>
            <a:ext cx="1110428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400">
                <a:solidFill>
                  <a:srgbClr val="1E5FA5"/>
                </a:solidFill>
              </a:defRPr>
            </a:lvl1pPr>
          </a:lstStyle>
          <a:p>
            <a:pPr/>
            <a:r>
              <a:t>SIGNALTRUST</a:t>
            </a:r>
          </a:p>
        </p:txBody>
      </p:sp>
      <p:pic>
        <p:nvPicPr>
          <p:cNvPr id="21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758" y="914400"/>
            <a:ext cx="11430002" cy="548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15" name="Rectangle 2"/>
          <p:cNvGrpSpPr/>
          <p:nvPr/>
        </p:nvGrpSpPr>
        <p:grpSpPr>
          <a:xfrm>
            <a:off x="0" y="-4"/>
            <a:ext cx="4114800" cy="731525"/>
            <a:chOff x="0" y="-2"/>
            <a:chExt cx="4114800" cy="731524"/>
          </a:xfrm>
        </p:grpSpPr>
        <p:sp>
          <p:nvSpPr>
            <p:cNvPr id="213" name="Rectangle"/>
            <p:cNvSpPr/>
            <p:nvPr/>
          </p:nvSpPr>
          <p:spPr>
            <a:xfrm>
              <a:off x="0" y="-3"/>
              <a:ext cx="4114800" cy="731525"/>
            </a:xfrm>
            <a:prstGeom prst="rect">
              <a:avLst/>
            </a:prstGeom>
            <a:solidFill>
              <a:srgbClr val="5A9E37"/>
            </a:solidFill>
            <a:ln w="9525" cap="flat">
              <a:solidFill>
                <a:srgbClr val="5A9E3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20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4" name="MARKET RESEARCH"/>
            <p:cNvSpPr txBox="1"/>
            <p:nvPr/>
          </p:nvSpPr>
          <p:spPr>
            <a:xfrm>
              <a:off x="233361" y="241388"/>
              <a:ext cx="3830958" cy="3401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2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MARKET RESEARCH</a:t>
              </a:r>
            </a:p>
          </p:txBody>
        </p:sp>
      </p:grpSp>
      <p:sp>
        <p:nvSpPr>
          <p:cNvPr id="216" name="TextBox 3"/>
          <p:cNvSpPr txBox="1"/>
          <p:nvPr/>
        </p:nvSpPr>
        <p:spPr>
          <a:xfrm>
            <a:off x="9646918" y="182879"/>
            <a:ext cx="1110428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400">
                <a:solidFill>
                  <a:srgbClr val="1E5FA5"/>
                </a:solidFill>
              </a:defRPr>
            </a:lvl1pPr>
          </a:lstStyle>
          <a:p>
            <a:pPr/>
            <a:r>
              <a:t>SIGNALTRUST</a:t>
            </a:r>
          </a:p>
        </p:txBody>
      </p:sp>
      <p:grpSp>
        <p:nvGrpSpPr>
          <p:cNvPr id="219" name="Stat Banner"/>
          <p:cNvGrpSpPr/>
          <p:nvPr/>
        </p:nvGrpSpPr>
        <p:grpSpPr>
          <a:xfrm>
            <a:off x="365759" y="914400"/>
            <a:ext cx="11460177" cy="960121"/>
            <a:chOff x="0" y="0"/>
            <a:chExt cx="11460176" cy="960120"/>
          </a:xfrm>
        </p:grpSpPr>
        <p:sp>
          <p:nvSpPr>
            <p:cNvPr id="217" name="Rounded Rectangle"/>
            <p:cNvSpPr/>
            <p:nvPr/>
          </p:nvSpPr>
          <p:spPr>
            <a:xfrm>
              <a:off x="0" y="0"/>
              <a:ext cx="11460177" cy="960121"/>
            </a:xfrm>
            <a:prstGeom prst="roundRect">
              <a:avLst>
                <a:gd name="adj" fmla="val 16667"/>
              </a:avLst>
            </a:prstGeom>
            <a:solidFill>
              <a:srgbClr val="1E5FA5"/>
            </a:solidFill>
            <a:ln w="9525" cap="flat">
              <a:solidFill>
                <a:srgbClr val="1E5FA5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100">
                  <a:solidFill>
                    <a:srgbClr val="D6E4F5"/>
                  </a:solidFill>
                </a:defRPr>
              </a:pPr>
            </a:p>
          </p:txBody>
        </p:sp>
        <p:sp>
          <p:nvSpPr>
            <p:cNvPr id="218" name="📊 2.6M+ Do-Not-Call complaints filed with the FTC in FY2025 · 258.5M numbers on the National DNC Registry…"/>
            <p:cNvSpPr txBox="1"/>
            <p:nvPr/>
          </p:nvSpPr>
          <p:spPr>
            <a:xfrm>
              <a:off x="280231" y="164180"/>
              <a:ext cx="10899715" cy="6317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spcBef>
                  <a:spcPts val="400"/>
                </a:spcBef>
                <a:defRPr b="1">
                  <a:solidFill>
                    <a:srgbClr val="FEF08A"/>
                  </a:solidFill>
                  <a:latin typeface="+mj-lt"/>
                  <a:ea typeface="+mj-ea"/>
                  <a:cs typeface="+mj-cs"/>
                  <a:sym typeface="Helvetica"/>
                </a:defRPr>
              </a:pPr>
              <a:r>
                <a:t>📊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2.6M+ Do-Not-Call complaints filed with the FTC in FY2025 · 258.5M numbers on the National DNC Registry</a:t>
              </a:r>
              <a:endParaRPr>
                <a:latin typeface="+mn-lt"/>
                <a:ea typeface="+mn-ea"/>
                <a:cs typeface="+mn-cs"/>
                <a:sym typeface="Calibri"/>
              </a:endParaRPr>
            </a:p>
            <a:p>
              <a:pPr algn="ctr">
                <a:defRPr sz="1100">
                  <a:solidFill>
                    <a:srgbClr val="D6E4F5"/>
                  </a:solidFill>
                </a:defRPr>
              </a:pPr>
              <a:r>
                <a:t>Source: FTC National Do Not Call Registry Data Book, FY2025 (ftc.gov)</a:t>
              </a:r>
            </a:p>
          </p:txBody>
        </p:sp>
      </p:grpSp>
      <p:graphicFrame>
        <p:nvGraphicFramePr>
          <p:cNvPr id="220" name="Comparison Table"/>
          <p:cNvGraphicFramePr/>
          <p:nvPr/>
        </p:nvGraphicFramePr>
        <p:xfrm>
          <a:off x="365758" y="2011678"/>
          <a:ext cx="11460177" cy="3749044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292035"/>
                <a:gridCol w="3667256"/>
                <a:gridCol w="2750442"/>
                <a:gridCol w="2750442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PRODUCT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1E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APPROACH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1E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SCALE / ADOPTION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1E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KEY LIMITATION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1E5FA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1E293B"/>
                          </a:solidFill>
                        </a:rPr>
                        <a:t>Truecaller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334155"/>
                          </a:solidFill>
                        </a:rPr>
                        <a:t>Crowdsourced caller-ID database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334155"/>
                          </a:solidFill>
                        </a:rPr>
                        <a:t>500M+ users worldwide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334155"/>
                          </a:solidFill>
                        </a:rPr>
                        <a:t>Uploads your contacts to build its database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1E293B"/>
                          </a:solidFill>
                        </a:rPr>
                        <a:t>Hiya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334155"/>
                          </a:solidFill>
                        </a:rPr>
                        <a:t>Carrier-integrated spam list + AI pattern detection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334155"/>
                          </a:solidFill>
                        </a:rPr>
                        <a:t>100M+ users, 10B+ calls blocked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334155"/>
                          </a:solidFill>
                        </a:rPr>
                        <a:t>Best results limited to partnered carriers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1E293B"/>
                          </a:solidFill>
                        </a:rPr>
                        <a:t>RoboKiller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334155"/>
                          </a:solidFill>
                        </a:rPr>
                        <a:t>Audio fingerprinting &amp; predictive blocklists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334155"/>
                          </a:solidFill>
                        </a:rPr>
                        <a:t>Paid, from ~$4.99/mo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334155"/>
                          </a:solidFill>
                        </a:rPr>
                        <a:t>Static blocklists still miss neighbor-spoofed numbers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1E5FA5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✅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Calibri"/>
                        </a:rPr>
                        <a:t>SpamScanner (Ours)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E1EC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1E5FA5"/>
                          </a:solidFill>
                        </a:rPr>
                        <a:t>XGBoost risk score + mutual-contact graph, on-device SHA-256 hashing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E1EC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1E5FA5"/>
                          </a:solidFill>
                        </a:rPr>
                        <a:t>1.00 ROC-AUC on validation set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E1EC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1E5FA5"/>
                          </a:solidFill>
                        </a:rPr>
                        <a:t>Needs local call telemetry (freq., duration) to score</a:t>
                      </a:r>
                    </a:p>
                  </a:txBody>
                  <a:tcPr marL="22860" marR="22860" marT="22860" marB="22860" anchor="ctr" anchorCtr="0" horzOverflow="overflow">
                    <a:solidFill>
                      <a:srgbClr val="E1ECF9"/>
                    </a:solidFill>
                  </a:tcPr>
                </a:tc>
              </a:tr>
            </a:tbl>
          </a:graphicData>
        </a:graphic>
      </p:graphicFrame>
      <p:grpSp>
        <p:nvGrpSpPr>
          <p:cNvPr id="223" name="Validated Results"/>
          <p:cNvGrpSpPr/>
          <p:nvPr/>
        </p:nvGrpSpPr>
        <p:grpSpPr>
          <a:xfrm>
            <a:off x="365759" y="5943599"/>
            <a:ext cx="11460177" cy="640083"/>
            <a:chOff x="0" y="0"/>
            <a:chExt cx="11460176" cy="640082"/>
          </a:xfrm>
        </p:grpSpPr>
        <p:sp>
          <p:nvSpPr>
            <p:cNvPr id="221" name="Rounded Rectangle"/>
            <p:cNvSpPr/>
            <p:nvPr/>
          </p:nvSpPr>
          <p:spPr>
            <a:xfrm>
              <a:off x="0" y="-1"/>
              <a:ext cx="11460177" cy="640083"/>
            </a:xfrm>
            <a:prstGeom prst="roundRect">
              <a:avLst>
                <a:gd name="adj" fmla="val 16667"/>
              </a:avLst>
            </a:prstGeom>
            <a:solidFill>
              <a:srgbClr val="EAF3E4"/>
            </a:solidFill>
            <a:ln w="9525" cap="flat">
              <a:solidFill>
                <a:srgbClr val="5A9E3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1300">
                  <a:solidFill>
                    <a:srgbClr val="2F6B1F"/>
                  </a:solidFill>
                </a:defRPr>
              </a:pPr>
            </a:p>
          </p:txBody>
        </p:sp>
        <p:sp>
          <p:nvSpPr>
            <p:cNvPr id="222" name="✅ VALIDATED ON OUR PIPELINE: 1.00 ROC-AUC · 100% Precision &amp; Recall · 6/6 Automated Tests Passing · Sub-200ms Inference"/>
            <p:cNvSpPr txBox="1"/>
            <p:nvPr/>
          </p:nvSpPr>
          <p:spPr>
            <a:xfrm>
              <a:off x="81728" y="140970"/>
              <a:ext cx="11296721" cy="358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300">
                  <a:solidFill>
                    <a:srgbClr val="2F6B1F"/>
                  </a:solidFill>
                  <a:latin typeface="+mj-lt"/>
                  <a:ea typeface="+mj-ea"/>
                  <a:cs typeface="+mj-cs"/>
                  <a:sym typeface="Helvetica"/>
                </a:defRPr>
              </a:pPr>
              <a:r>
                <a:t>✅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VALIDATED ON OUR PIPELINE: 1.00 ROC-AUC · 100% Precision &amp; Recall · 6/6 Automated Tests Passing · Sub-200ms Inference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Background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E5FA5"/>
          </a:solidFill>
          <a:ln>
            <a:solidFill>
              <a:srgbClr val="1E5FA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6" name="Header Label"/>
          <p:cNvSpPr txBox="1"/>
          <p:nvPr/>
        </p:nvSpPr>
        <p:spPr>
          <a:xfrm>
            <a:off x="731519" y="548641"/>
            <a:ext cx="2403905" cy="280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400">
                <a:solidFill>
                  <a:srgbClr val="FFE066"/>
                </a:solidFill>
              </a:defRPr>
            </a:lvl1pPr>
          </a:lstStyle>
          <a:p>
            <a:pPr/>
            <a:r>
              <a:t>SIGNALTRUST / SPAMSCANNER</a:t>
            </a:r>
          </a:p>
        </p:txBody>
      </p:sp>
      <p:sp>
        <p:nvSpPr>
          <p:cNvPr id="227" name="Thank You Title"/>
          <p:cNvSpPr txBox="1"/>
          <p:nvPr/>
        </p:nvSpPr>
        <p:spPr>
          <a:xfrm>
            <a:off x="731518" y="2027670"/>
            <a:ext cx="10728659" cy="790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5400">
                <a:solidFill>
                  <a:srgbClr val="FFFFFF"/>
                </a:solidFill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228" name="Divider"/>
          <p:cNvSpPr/>
          <p:nvPr/>
        </p:nvSpPr>
        <p:spPr>
          <a:xfrm>
            <a:off x="685799" y="4480559"/>
            <a:ext cx="10820097" cy="12702"/>
          </a:xfrm>
          <a:prstGeom prst="rect">
            <a:avLst/>
          </a:prstGeom>
          <a:solidFill>
            <a:srgbClr val="3D7AC0"/>
          </a:solidFill>
          <a:ln>
            <a:solidFill>
              <a:srgbClr val="3D7AC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9" name="Team Info"/>
          <p:cNvSpPr txBox="1"/>
          <p:nvPr/>
        </p:nvSpPr>
        <p:spPr>
          <a:xfrm>
            <a:off x="731518" y="4800601"/>
            <a:ext cx="10728659" cy="509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TEAM NAME : 2ByteCoders		TEAM ID: 38</a:t>
            </a:r>
          </a:p>
          <a:p>
            <a:pPr>
              <a:defRPr sz="1400">
                <a:solidFill>
                  <a:srgbClr val="D6E4F5"/>
                </a:solidFill>
              </a:defRPr>
            </a:pPr>
            <a:r>
              <a:t>TEAM MEMBERS: SOURAV RINWA &amp; ARVIND SHARMA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